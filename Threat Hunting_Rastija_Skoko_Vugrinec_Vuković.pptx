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4" r:id="rId2"/>
  </p:sldMasterIdLst>
  <p:notesMasterIdLst>
    <p:notesMasterId r:id="rId37"/>
  </p:notesMasterIdLst>
  <p:sldIdLst>
    <p:sldId id="256" r:id="rId3"/>
    <p:sldId id="416" r:id="rId4"/>
    <p:sldId id="421" r:id="rId5"/>
    <p:sldId id="422" r:id="rId6"/>
    <p:sldId id="417" r:id="rId7"/>
    <p:sldId id="418" r:id="rId8"/>
    <p:sldId id="419" r:id="rId9"/>
    <p:sldId id="386" r:id="rId10"/>
    <p:sldId id="388" r:id="rId11"/>
    <p:sldId id="387" r:id="rId12"/>
    <p:sldId id="389" r:id="rId13"/>
    <p:sldId id="397" r:id="rId14"/>
    <p:sldId id="398" r:id="rId15"/>
    <p:sldId id="399" r:id="rId16"/>
    <p:sldId id="400" r:id="rId17"/>
    <p:sldId id="390" r:id="rId18"/>
    <p:sldId id="392" r:id="rId19"/>
    <p:sldId id="391" r:id="rId20"/>
    <p:sldId id="402" r:id="rId21"/>
    <p:sldId id="403" r:id="rId22"/>
    <p:sldId id="404" r:id="rId23"/>
    <p:sldId id="393" r:id="rId24"/>
    <p:sldId id="395" r:id="rId25"/>
    <p:sldId id="394" r:id="rId26"/>
    <p:sldId id="396" r:id="rId27"/>
    <p:sldId id="406" r:id="rId28"/>
    <p:sldId id="408" r:id="rId29"/>
    <p:sldId id="411" r:id="rId30"/>
    <p:sldId id="420" r:id="rId31"/>
    <p:sldId id="413" r:id="rId32"/>
    <p:sldId id="409" r:id="rId33"/>
    <p:sldId id="414" r:id="rId34"/>
    <p:sldId id="415" r:id="rId35"/>
    <p:sldId id="283" r:id="rId36"/>
  </p:sldIdLst>
  <p:sldSz cx="9144000" cy="5143500" type="screen16x9"/>
  <p:notesSz cx="6858000" cy="9144000"/>
  <p:embeddedFontLst>
    <p:embeddedFont>
      <p:font typeface="Barlow SemiBold" panose="00000700000000000000" pitchFamily="2" charset="-18"/>
      <p:regular r:id="rId38"/>
      <p:bold r:id="rId39"/>
      <p:italic r:id="rId40"/>
      <p:boldItalic r:id="rId41"/>
    </p:embeddedFont>
    <p:embeddedFont>
      <p:font typeface="Commissioner" panose="020B0604020202020204" charset="0"/>
      <p:regular r:id="rId42"/>
      <p:bold r:id="rId43"/>
    </p:embeddedFont>
    <p:embeddedFont>
      <p:font typeface="Commissioner ExtraBold" panose="020B0604020202020204" charset="0"/>
      <p:bold r:id="rId44"/>
    </p:embeddedFont>
    <p:embeddedFont>
      <p:font typeface="Rockwell Light" panose="02040303020102020203" pitchFamily="18" charset="0"/>
      <p:regular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  <p:embeddedFont>
      <p:font typeface="Syne" panose="020B0604020202020204" charset="-18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000000"/>
    <a:srgbClr val="DDDDDD"/>
    <a:srgbClr val="E6F5FE"/>
    <a:srgbClr val="DED4C0"/>
    <a:srgbClr val="ECE7DC"/>
    <a:srgbClr val="EEE9E0"/>
    <a:srgbClr val="B5E2FF"/>
    <a:srgbClr val="F7F7F7"/>
    <a:srgbClr val="0938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B0C33E-3051-4056-B17E-4E8AE846BB6C}">
  <a:tblStyle styleId="{6FB0C33E-3051-4056-B17E-4E8AE846BB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Svijetli stil 2 - Isticanj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Bez stila, bez rešetk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66239" autoAdjust="0"/>
  </p:normalViewPr>
  <p:slideViewPr>
    <p:cSldViewPr snapToGrid="0">
      <p:cViewPr varScale="1">
        <p:scale>
          <a:sx n="55" d="100"/>
          <a:sy n="55" d="100"/>
        </p:scale>
        <p:origin x="1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font" Target="fonts/font1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EAB0951E-2D28-54C9-16B7-DDC791055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30F709A6-302E-E081-7D87-278ADDC1D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50F4FDE2-AC66-6063-40B5-F959535C6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3727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9771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E802-7348-1D71-CCB9-B2EE054D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EE286756-763D-FDC6-0B2F-A33A5C2B5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6C3F4BEE-1E29-299F-B924-29019D9F2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75719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720CF95C-629D-2FC5-E558-D719B48E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96031C38-2DF5-1E77-B8E9-D8DAEE2A23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EE57A7E3-64EF-3830-CDAC-3F7BB113A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6333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4594FF86-C4E6-B69F-61F9-B4389E06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C65E8225-B50A-4BBF-70C2-7B15C096F8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83831303-525E-3D35-C8C4-0856EE575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3173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E6D9B5F8-7261-A3BD-075D-F53DF55A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0CFC743A-F192-5EDD-39B6-3A24769F7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CE8D2721-3131-38F5-1A3D-993293116B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4263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6B5D402C-88C5-62F7-EBEF-1C0C4902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C6CE4AC1-F5C7-2D84-E49E-AB641AB3D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2FD756AA-72DB-1412-D8BF-1CAAFB9B6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5160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CA4CB5B4-308B-61C3-4F07-6DDD4C0C8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214602D3-E626-8569-A773-449A65F37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12ECA1EB-7886-7A23-77BB-D0761917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5462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05D1AE5D-54B1-E261-8878-752DD497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EF593A6C-3450-992E-E884-1FB8E309B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07D175BB-F446-3AD3-1573-91DA62CCD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224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B021D4B5-63B5-DFE0-E948-156AAA092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B329968E-20A2-62D5-0E9B-8E639E396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CA73E8EF-FD5A-423F-8EE5-28AE0983A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6248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C7B24B4C-EC92-3293-EE8E-CF838FB50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89C11FAA-D04F-2D3A-A037-F9B6A5005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34326737-926F-1CF6-D0FC-D8A729609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8838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002C8F77-DCF8-0638-C73A-93C2DC9A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E764499F-C5D7-D0BE-38A0-2FAF37FF3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885C103F-2E04-52D5-71C6-A1EA18775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1398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F2016C18-C727-D370-7913-438BC3EC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90C4E2B9-80B4-F862-0047-97EF78D06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509949BD-B782-9FB3-3AE7-BD995F7B4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6762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2B34C521-EEC0-F830-31A0-22F9EA6E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E57E7F5F-D57C-F46C-0447-07C309CD5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DEBAD6E7-9880-3E44-E353-67CFD0D7F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4763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BFA462A4-B5CF-AD67-DB25-C4A9FD55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B5A1E0A0-FCE4-AFBE-5E1E-DD4C490C8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6174719A-F5B2-E46F-AA9A-2DCC095580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7864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C3F8C26F-F854-20EF-F59D-56914C57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365DB425-A23F-A191-0FC4-C31E68BCE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57158536-7382-F8A6-CE47-3874DF31F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0253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56182BEB-1552-2929-750F-4022F454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CD8A0C03-9317-52E5-E43C-EC96122C0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F4FA4DB6-E230-870F-FE8E-07EB46CDB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653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CEA0B467-0CD2-55C3-3914-474235792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3A78AFFF-150C-AF36-6681-369A9F37B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723C0C36-55AE-E34E-C77E-171FEE639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1979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27B931E2-3846-195D-44B4-1445727A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0FE04FBA-2911-EDBB-907A-1A70D9A7B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E24B1787-1D5B-7C01-6C3D-7AD182547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314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781002D8-526D-DB29-7436-46853DB6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13C07051-51E6-582B-1E9E-6E956EC1B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C4433E19-EDCC-C094-944E-03B49AA49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07948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6B15DDC4-935F-2A60-D9CC-2B2F92E0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72212843-63B5-27DA-7A47-37CED16DC4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B958D64F-6FEA-CA1A-FE16-BCE96FC686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68144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3FA7D79F-BC71-0D08-DCA7-C1C5A880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E7E91269-C106-EDBA-1699-8401F2354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2E37B1FC-9C53-1857-FA43-9B12E6A34A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4492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396EAF73-73B8-BABF-D8FA-94425E6A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D69C61F0-03FE-4575-BB07-DEFF41451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1E44A7D8-B108-64CD-6DB7-D0B7018B6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49206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91A4F791-8195-F869-AD6F-84E69A00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164B27A4-4C58-4E6D-2CB3-CB542F8D99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6F9EE745-6B04-2FEF-F017-13E5E346A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3644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439E76CE-6970-3FDE-4A2E-14DFFA94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83CB4576-76AF-6029-B51F-15C411024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58B93D8A-2172-922E-409F-39E1952CB7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22185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A353E196-CCF4-37BB-69C1-EE55D5C7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AFFF758E-7ABA-B5E3-7E8C-07407644A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7A794941-2F9C-95CC-A376-729B0DA7F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2502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7316BF3D-A6B6-D64B-38D0-79F0F498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4D6FE677-DAE0-D1CE-704C-E3D9BDBFD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5E6B4226-AD9A-131B-2037-EA6E08F18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95234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F566D7B8-32E3-DCA5-D27D-BA3B6445B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1C2D02DF-ACF9-B051-6532-98A1274C10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FCBF19CA-53E3-E40E-6533-9750494BD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61855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F566D7B8-32E3-DCA5-D27D-BA3B6445B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1C2D02DF-ACF9-B051-6532-98A1274C10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FCBF19CA-53E3-E40E-6533-9750494BD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61855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6276DC5A-3B49-7966-AFB5-3E97D04C0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13D527A1-171E-1009-22C9-0DAAF7644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7FCD0829-0624-C716-161B-B96B47B75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89322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4C0CB5EE-AFCE-D41B-7166-61CA0C38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6CE6E810-9501-360A-488B-892F56DE1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ECB1ED19-2A12-0AE7-EE4F-99D6F1FF6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11158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F8C9E2F2-A6F6-B6A3-6535-97C44FAD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710ee6ade_0_356:notes">
            <a:extLst>
              <a:ext uri="{FF2B5EF4-FFF2-40B4-BE49-F238E27FC236}">
                <a16:creationId xmlns:a16="http://schemas.microsoft.com/office/drawing/2014/main" id="{D42C7EA4-0299-B873-02CE-52598C5955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710ee6ade_0_356:notes">
            <a:extLst>
              <a:ext uri="{FF2B5EF4-FFF2-40B4-BE49-F238E27FC236}">
                <a16:creationId xmlns:a16="http://schemas.microsoft.com/office/drawing/2014/main" id="{2CC59A25-8D8D-66A6-0AEF-433DDB460A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06342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e710ee6ade_0_8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e710ee6ade_0_8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597000" y="1369050"/>
            <a:ext cx="5115900" cy="191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5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ommissioner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762900" y="3607600"/>
            <a:ext cx="35631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lang="hr-H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7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/>
          <p:nvPr/>
        </p:nvSpPr>
        <p:spPr>
          <a:xfrm>
            <a:off x="6430655" y="1855978"/>
            <a:ext cx="6884659" cy="4975843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-362825" y="-320375"/>
            <a:ext cx="5841347" cy="2519468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3"/>
          <p:cNvSpPr/>
          <p:nvPr/>
        </p:nvSpPr>
        <p:spPr>
          <a:xfrm>
            <a:off x="6705700" y="2199100"/>
            <a:ext cx="3543224" cy="3413764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7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/>
          <p:nvPr/>
        </p:nvSpPr>
        <p:spPr>
          <a:xfrm>
            <a:off x="-2872720" y="3172028"/>
            <a:ext cx="6884659" cy="4975843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4"/>
          <p:cNvSpPr/>
          <p:nvPr/>
        </p:nvSpPr>
        <p:spPr>
          <a:xfrm flipH="1">
            <a:off x="4764725" y="-224775"/>
            <a:ext cx="5841347" cy="2519468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4"/>
          <p:cNvSpPr/>
          <p:nvPr/>
        </p:nvSpPr>
        <p:spPr>
          <a:xfrm rot="4500029">
            <a:off x="93659" y="2718207"/>
            <a:ext cx="3543161" cy="3413704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userDrawn="1">
  <p:cSld name="Title only 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Ravni poveznik 2">
            <a:extLst>
              <a:ext uri="{FF2B5EF4-FFF2-40B4-BE49-F238E27FC236}">
                <a16:creationId xmlns:a16="http://schemas.microsoft.com/office/drawing/2014/main" id="{1806D639-0F1A-A58A-AACA-8134E4BA25D3}"/>
              </a:ext>
            </a:extLst>
          </p:cNvPr>
          <p:cNvCxnSpPr/>
          <p:nvPr userDrawn="1"/>
        </p:nvCxnSpPr>
        <p:spPr>
          <a:xfrm>
            <a:off x="259079" y="0"/>
            <a:ext cx="0" cy="5404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avni poveznik 3">
            <a:extLst>
              <a:ext uri="{FF2B5EF4-FFF2-40B4-BE49-F238E27FC236}">
                <a16:creationId xmlns:a16="http://schemas.microsoft.com/office/drawing/2014/main" id="{67C9E1B7-ABBE-CB0D-2103-1832BA787894}"/>
              </a:ext>
            </a:extLst>
          </p:cNvPr>
          <p:cNvCxnSpPr/>
          <p:nvPr userDrawn="1"/>
        </p:nvCxnSpPr>
        <p:spPr>
          <a:xfrm>
            <a:off x="8884921" y="-130302"/>
            <a:ext cx="0" cy="5404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vni poveznik 4">
            <a:extLst>
              <a:ext uri="{FF2B5EF4-FFF2-40B4-BE49-F238E27FC236}">
                <a16:creationId xmlns:a16="http://schemas.microsoft.com/office/drawing/2014/main" id="{5ECDAA97-04B2-3E8E-7270-C613F1313E3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06323"/>
            <a:ext cx="933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avni poveznik 6">
            <a:extLst>
              <a:ext uri="{FF2B5EF4-FFF2-40B4-BE49-F238E27FC236}">
                <a16:creationId xmlns:a16="http://schemas.microsoft.com/office/drawing/2014/main" id="{6B6950F8-8989-0741-3992-E2EA5DD415E9}"/>
              </a:ext>
            </a:extLst>
          </p:cNvPr>
          <p:cNvCxnSpPr>
            <a:cxnSpLocks/>
          </p:cNvCxnSpPr>
          <p:nvPr userDrawn="1"/>
        </p:nvCxnSpPr>
        <p:spPr>
          <a:xfrm flipH="1">
            <a:off x="-96012" y="4856989"/>
            <a:ext cx="933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64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597000" y="1369050"/>
            <a:ext cx="5115900" cy="191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5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sym typeface="Commissioner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762900" y="3607600"/>
            <a:ext cx="35631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lang="hr-H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0484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3269949" y="3913766"/>
            <a:ext cx="6732640" cy="1258519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8"/>
          <p:cNvSpPr/>
          <p:nvPr/>
        </p:nvSpPr>
        <p:spPr>
          <a:xfrm rot="10800000">
            <a:off x="-626096" y="-193028"/>
            <a:ext cx="3369906" cy="1722364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6098039" y="3457193"/>
            <a:ext cx="3402170" cy="1738655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/>
          <p:nvPr/>
        </p:nvSpPr>
        <p:spPr>
          <a:xfrm>
            <a:off x="509300" y="-193031"/>
            <a:ext cx="2657853" cy="709603"/>
          </a:xfrm>
          <a:custGeom>
            <a:avLst/>
            <a:gdLst/>
            <a:ahLst/>
            <a:cxnLst/>
            <a:rect l="l" t="t" r="r" b="b"/>
            <a:pathLst>
              <a:path w="79091" h="21116" extrusionOk="0">
                <a:moveTo>
                  <a:pt x="267" y="434"/>
                </a:moveTo>
                <a:cubicBezTo>
                  <a:pt x="1" y="7006"/>
                  <a:pt x="3503" y="13044"/>
                  <a:pt x="8874" y="16713"/>
                </a:cubicBezTo>
                <a:cubicBezTo>
                  <a:pt x="15178" y="21116"/>
                  <a:pt x="22683" y="19982"/>
                  <a:pt x="29355" y="17113"/>
                </a:cubicBezTo>
                <a:cubicBezTo>
                  <a:pt x="33358" y="15379"/>
                  <a:pt x="37160" y="13177"/>
                  <a:pt x="41063" y="11342"/>
                </a:cubicBezTo>
                <a:cubicBezTo>
                  <a:pt x="45733" y="9207"/>
                  <a:pt x="50703" y="8040"/>
                  <a:pt x="55840" y="7873"/>
                </a:cubicBezTo>
                <a:cubicBezTo>
                  <a:pt x="60644" y="7740"/>
                  <a:pt x="65214" y="9207"/>
                  <a:pt x="69984" y="9474"/>
                </a:cubicBezTo>
                <a:cubicBezTo>
                  <a:pt x="73320" y="9674"/>
                  <a:pt x="76755" y="8574"/>
                  <a:pt x="78857" y="5905"/>
                </a:cubicBezTo>
                <a:cubicBezTo>
                  <a:pt x="79090" y="5572"/>
                  <a:pt x="78657" y="5171"/>
                  <a:pt x="78390" y="5471"/>
                </a:cubicBezTo>
                <a:cubicBezTo>
                  <a:pt x="75655" y="9007"/>
                  <a:pt x="71151" y="9141"/>
                  <a:pt x="67048" y="8540"/>
                </a:cubicBezTo>
                <a:cubicBezTo>
                  <a:pt x="63012" y="7973"/>
                  <a:pt x="59176" y="7173"/>
                  <a:pt x="55040" y="7239"/>
                </a:cubicBezTo>
                <a:cubicBezTo>
                  <a:pt x="47334" y="7506"/>
                  <a:pt x="40663" y="10675"/>
                  <a:pt x="33891" y="14144"/>
                </a:cubicBezTo>
                <a:cubicBezTo>
                  <a:pt x="26986" y="17680"/>
                  <a:pt x="19281" y="20916"/>
                  <a:pt x="11609" y="17513"/>
                </a:cubicBezTo>
                <a:cubicBezTo>
                  <a:pt x="5004" y="14578"/>
                  <a:pt x="501" y="7506"/>
                  <a:pt x="801" y="334"/>
                </a:cubicBezTo>
                <a:cubicBezTo>
                  <a:pt x="868" y="1"/>
                  <a:pt x="267" y="1"/>
                  <a:pt x="267" y="4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388100" y="1724700"/>
            <a:ext cx="6367800" cy="169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892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/>
          <p:nvPr/>
        </p:nvSpPr>
        <p:spPr>
          <a:xfrm>
            <a:off x="6430655" y="1855978"/>
            <a:ext cx="6884659" cy="4975843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-362825" y="-320375"/>
            <a:ext cx="5841347" cy="2519468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3"/>
          <p:cNvSpPr/>
          <p:nvPr/>
        </p:nvSpPr>
        <p:spPr>
          <a:xfrm>
            <a:off x="6705700" y="2199100"/>
            <a:ext cx="3543224" cy="3413764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341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/>
          <p:nvPr/>
        </p:nvSpPr>
        <p:spPr>
          <a:xfrm>
            <a:off x="-2872720" y="3172028"/>
            <a:ext cx="6884659" cy="4975843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4"/>
          <p:cNvSpPr/>
          <p:nvPr/>
        </p:nvSpPr>
        <p:spPr>
          <a:xfrm flipH="1">
            <a:off x="4764725" y="-224775"/>
            <a:ext cx="5841347" cy="2519468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4"/>
          <p:cNvSpPr/>
          <p:nvPr/>
        </p:nvSpPr>
        <p:spPr>
          <a:xfrm rot="4500029">
            <a:off x="93659" y="2718207"/>
            <a:ext cx="3543161" cy="3413704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371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userDrawn="1">
  <p:cSld name="Title only 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Ravni poveznik 2">
            <a:extLst>
              <a:ext uri="{FF2B5EF4-FFF2-40B4-BE49-F238E27FC236}">
                <a16:creationId xmlns:a16="http://schemas.microsoft.com/office/drawing/2014/main" id="{1806D639-0F1A-A58A-AACA-8134E4BA25D3}"/>
              </a:ext>
            </a:extLst>
          </p:cNvPr>
          <p:cNvCxnSpPr/>
          <p:nvPr userDrawn="1"/>
        </p:nvCxnSpPr>
        <p:spPr>
          <a:xfrm>
            <a:off x="259079" y="0"/>
            <a:ext cx="0" cy="5404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avni poveznik 3">
            <a:extLst>
              <a:ext uri="{FF2B5EF4-FFF2-40B4-BE49-F238E27FC236}">
                <a16:creationId xmlns:a16="http://schemas.microsoft.com/office/drawing/2014/main" id="{67C9E1B7-ABBE-CB0D-2103-1832BA787894}"/>
              </a:ext>
            </a:extLst>
          </p:cNvPr>
          <p:cNvCxnSpPr/>
          <p:nvPr userDrawn="1"/>
        </p:nvCxnSpPr>
        <p:spPr>
          <a:xfrm>
            <a:off x="8884921" y="-130302"/>
            <a:ext cx="0" cy="5404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avni poveznik 4">
            <a:extLst>
              <a:ext uri="{FF2B5EF4-FFF2-40B4-BE49-F238E27FC236}">
                <a16:creationId xmlns:a16="http://schemas.microsoft.com/office/drawing/2014/main" id="{5ECDAA97-04B2-3E8E-7270-C613F1313E3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06323"/>
            <a:ext cx="933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avni poveznik 6">
            <a:extLst>
              <a:ext uri="{FF2B5EF4-FFF2-40B4-BE49-F238E27FC236}">
                <a16:creationId xmlns:a16="http://schemas.microsoft.com/office/drawing/2014/main" id="{6B6950F8-8989-0741-3992-E2EA5DD415E9}"/>
              </a:ext>
            </a:extLst>
          </p:cNvPr>
          <p:cNvCxnSpPr>
            <a:cxnSpLocks/>
          </p:cNvCxnSpPr>
          <p:nvPr userDrawn="1"/>
        </p:nvCxnSpPr>
        <p:spPr>
          <a:xfrm flipH="1">
            <a:off x="-96012" y="4856989"/>
            <a:ext cx="933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29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●"/>
              <a:defRPr sz="18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9" r:id="rId2"/>
    <p:sldLayoutId id="2147483680" r:id="rId3"/>
    <p:sldLayoutId id="214748368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●"/>
              <a:defRPr sz="18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1838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>
            <a:spLocks noGrp="1"/>
          </p:cNvSpPr>
          <p:nvPr>
            <p:ph type="ctrTitle"/>
          </p:nvPr>
        </p:nvSpPr>
        <p:spPr>
          <a:xfrm>
            <a:off x="4629490" y="1502339"/>
            <a:ext cx="4196343" cy="16616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4800" b="1" dirty="0" err="1">
                <a:latin typeface="Rockwell Light" panose="02040303020102020203" pitchFamily="18" charset="0"/>
              </a:rPr>
              <a:t>Threat</a:t>
            </a:r>
            <a:r>
              <a:rPr lang="hr-HR" sz="4800" b="1" dirty="0">
                <a:latin typeface="Rockwell Light" panose="02040303020102020203" pitchFamily="18" charset="0"/>
              </a:rPr>
              <a:t> </a:t>
            </a:r>
            <a:br>
              <a:rPr lang="hr-HR" sz="4800" b="1" dirty="0">
                <a:latin typeface="Rockwell Light" panose="02040303020102020203" pitchFamily="18" charset="0"/>
              </a:rPr>
            </a:br>
            <a:r>
              <a:rPr lang="hr-HR" sz="4800" b="1" dirty="0" err="1">
                <a:latin typeface="Rockwell Light" panose="02040303020102020203" pitchFamily="18" charset="0"/>
              </a:rPr>
              <a:t>Hunting</a:t>
            </a:r>
            <a:endParaRPr sz="4800" b="1" dirty="0">
              <a:latin typeface="Rockwell Light" panose="02040303020102020203" pitchFamily="18" charset="0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AE688CEA-B25D-C265-E753-CC34B6BAA97B}"/>
              </a:ext>
            </a:extLst>
          </p:cNvPr>
          <p:cNvSpPr txBox="1"/>
          <p:nvPr/>
        </p:nvSpPr>
        <p:spPr>
          <a:xfrm>
            <a:off x="3621391" y="92186"/>
            <a:ext cx="6097557" cy="523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>
              <a:spcBef>
                <a:spcPct val="0"/>
              </a:spcBef>
              <a:spcAft>
                <a:spcPct val="0"/>
              </a:spcAft>
              <a:defRPr sz="135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r-HR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Sveučilište u Zagrebu</a:t>
            </a:r>
          </a:p>
          <a:p>
            <a:pPr algn="ctr" defTabSz="914377">
              <a:spcBef>
                <a:spcPct val="0"/>
              </a:spcBef>
              <a:spcAft>
                <a:spcPct val="0"/>
              </a:spcAft>
              <a:defRPr sz="135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r-HR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Fakultet organizacije i informatike</a:t>
            </a:r>
          </a:p>
        </p:txBody>
      </p:sp>
      <p:sp>
        <p:nvSpPr>
          <p:cNvPr id="5" name="Google Shape;298;p37">
            <a:extLst>
              <a:ext uri="{FF2B5EF4-FFF2-40B4-BE49-F238E27FC236}">
                <a16:creationId xmlns:a16="http://schemas.microsoft.com/office/drawing/2014/main" id="{D9A69773-7863-A14A-0441-1C8599A6074D}"/>
              </a:ext>
            </a:extLst>
          </p:cNvPr>
          <p:cNvSpPr txBox="1">
            <a:spLocks/>
          </p:cNvSpPr>
          <p:nvPr/>
        </p:nvSpPr>
        <p:spPr>
          <a:xfrm>
            <a:off x="5778370" y="4779064"/>
            <a:ext cx="1898582" cy="27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egoe UI" panose="020B0502040204020203" pitchFamily="34" charset="0"/>
                <a:ea typeface="Syne"/>
                <a:cs typeface="Segoe UI" panose="020B0502040204020203" pitchFamily="34" charset="0"/>
                <a:sym typeface="Sy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indent="0" algn="ctr"/>
            <a:r>
              <a:rPr lang="hr-HR" sz="1400" dirty="0">
                <a:solidFill>
                  <a:schemeClr val="bg1">
                    <a:lumMod val="50000"/>
                  </a:schemeClr>
                </a:solidFill>
              </a:rPr>
              <a:t>Varaždin, siječanj 2026.</a:t>
            </a:r>
          </a:p>
        </p:txBody>
      </p:sp>
      <p:pic>
        <p:nvPicPr>
          <p:cNvPr id="11" name="Slika 10" descr="Slika na kojoj se prikazuje snimka zaslona, logotip, simbol, grafika&#10;&#10;Sadržaj generiran uz AI možda nije točan.">
            <a:extLst>
              <a:ext uri="{FF2B5EF4-FFF2-40B4-BE49-F238E27FC236}">
                <a16:creationId xmlns:a16="http://schemas.microsoft.com/office/drawing/2014/main" id="{5C1FBC96-E329-D4F7-FEC4-F52EE89D3E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11" t="13810" b="18254"/>
          <a:stretch>
            <a:fillRect/>
          </a:stretch>
        </p:blipFill>
        <p:spPr>
          <a:xfrm>
            <a:off x="0" y="212388"/>
            <a:ext cx="5021037" cy="4718724"/>
          </a:xfrm>
          <a:prstGeom prst="rect">
            <a:avLst/>
          </a:prstGeom>
        </p:spPr>
      </p:pic>
      <p:sp>
        <p:nvSpPr>
          <p:cNvPr id="13" name="TekstniOkvir 12">
            <a:extLst>
              <a:ext uri="{FF2B5EF4-FFF2-40B4-BE49-F238E27FC236}">
                <a16:creationId xmlns:a16="http://schemas.microsoft.com/office/drawing/2014/main" id="{B2DAB0D8-D7A4-9A30-1035-EDB270892798}"/>
              </a:ext>
            </a:extLst>
          </p:cNvPr>
          <p:cNvSpPr txBox="1"/>
          <p:nvPr/>
        </p:nvSpPr>
        <p:spPr>
          <a:xfrm>
            <a:off x="4286198" y="2877933"/>
            <a:ext cx="476794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hr-HR" sz="1500" dirty="0">
                <a:solidFill>
                  <a:schemeClr val="bg1">
                    <a:lumMod val="50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Kolegij: Sigurnost informacijskih sustava</a:t>
            </a:r>
          </a:p>
          <a:p>
            <a:pPr lvl="0" algn="ctr"/>
            <a:r>
              <a:rPr lang="hr-HR" sz="1500" dirty="0">
                <a:solidFill>
                  <a:schemeClr val="bg1">
                    <a:lumMod val="50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Članovi tima: Niko </a:t>
            </a:r>
            <a:r>
              <a:rPr lang="hr-HR" sz="1500" dirty="0" err="1">
                <a:solidFill>
                  <a:schemeClr val="bg1">
                    <a:lumMod val="50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Rastija</a:t>
            </a:r>
            <a:r>
              <a:rPr lang="hr-HR" sz="1500" dirty="0">
                <a:solidFill>
                  <a:schemeClr val="bg1">
                    <a:lumMod val="50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, Petra Skoko, </a:t>
            </a:r>
            <a:r>
              <a:rPr lang="hr-HR" sz="1500" dirty="0" err="1">
                <a:solidFill>
                  <a:schemeClr val="bg1">
                    <a:lumMod val="50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Nensi</a:t>
            </a:r>
            <a:r>
              <a:rPr lang="hr-HR" sz="1500" dirty="0">
                <a:solidFill>
                  <a:schemeClr val="bg1">
                    <a:lumMod val="50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Vugrinec, Mirta Vuković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F73C07D7-1268-E969-B0AD-65D9796B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E8FC35DF-0520-6CD1-959A-8CC6F36FA2BA}"/>
              </a:ext>
            </a:extLst>
          </p:cNvPr>
          <p:cNvSpPr/>
          <p:nvPr/>
        </p:nvSpPr>
        <p:spPr>
          <a:xfrm>
            <a:off x="400048" y="703290"/>
            <a:ext cx="396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1952CD78-E6D7-1A67-E4B0-8D840318AA71}"/>
              </a:ext>
            </a:extLst>
          </p:cNvPr>
          <p:cNvSpPr txBox="1"/>
          <p:nvPr/>
        </p:nvSpPr>
        <p:spPr>
          <a:xfrm>
            <a:off x="269420" y="426291"/>
            <a:ext cx="40984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VIRTUALNI STROJ #1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846B434E-5220-678C-3084-94425A499805}"/>
              </a:ext>
            </a:extLst>
          </p:cNvPr>
          <p:cNvSpPr txBox="1"/>
          <p:nvPr/>
        </p:nvSpPr>
        <p:spPr>
          <a:xfrm>
            <a:off x="532474" y="1464785"/>
            <a:ext cx="8227805" cy="333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Uloga sustava: 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Centralna točka za prikupljanje i korelaciju sigurnosnih podataka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Implementirani alati: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SIEM (Manager,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Indexer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,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Dashboard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),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Suricata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IDS,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Cowrie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SSH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Honeypot</a:t>
            </a:r>
            <a:endParaRPr lang="hr-HR" sz="18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Data </a:t>
            </a:r>
            <a:r>
              <a:rPr lang="hr-HR" sz="1800" b="1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Engineer</a:t>
            </a: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zadaci: </a:t>
            </a: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Automatizirana instalacija SIEM okruženja</a:t>
            </a: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Konfiguracija log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pipelinea</a:t>
            </a:r>
            <a:endParaRPr lang="hr-HR" sz="18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Osiguravanje stabilnog rada servisa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66D62A91-DB85-3DEB-0C1F-93FA95939477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>
                <a:latin typeface="Rockwell Light" panose="02040303020102020203" pitchFamily="18" charset="0"/>
              </a:rPr>
              <a:t>Data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34E2E7ED-F7C7-DD98-9B22-DDE850288BD4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SIEM / SECURITY SERVER (Ubuntu)</a:t>
            </a:r>
          </a:p>
        </p:txBody>
      </p:sp>
    </p:spTree>
    <p:extLst>
      <p:ext uri="{BB962C8B-B14F-4D97-AF65-F5344CB8AC3E}">
        <p14:creationId xmlns:p14="http://schemas.microsoft.com/office/powerpoint/2010/main" val="102293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 descr="Slika na kojoj se prikazuje tekst, snimka zaslona, račun&#10;&#10;Sadržaj generiran uz AI možda nije točan.">
            <a:extLst>
              <a:ext uri="{FF2B5EF4-FFF2-40B4-BE49-F238E27FC236}">
                <a16:creationId xmlns:a16="http://schemas.microsoft.com/office/drawing/2014/main" id="{F31FD7A1-0F25-33C5-A129-6E93BAA73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89" y="409328"/>
            <a:ext cx="8376822" cy="4047052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89809545-1998-D452-4942-0C09BE6FA0A3}"/>
              </a:ext>
            </a:extLst>
          </p:cNvPr>
          <p:cNvSpPr txBox="1"/>
          <p:nvPr/>
        </p:nvSpPr>
        <p:spPr>
          <a:xfrm>
            <a:off x="383589" y="4456380"/>
            <a:ext cx="47224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400" i="1" dirty="0">
                <a:latin typeface="Rockwell Light" panose="02040303020102020203" pitchFamily="18" charset="0"/>
                <a:cs typeface="Segoe UI" panose="020B0502040204020203" pitchFamily="34" charset="0"/>
              </a:rPr>
              <a:t>Slika: Prikaz </a:t>
            </a:r>
            <a:r>
              <a:rPr lang="hr-HR" sz="14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1400" i="1" dirty="0">
                <a:latin typeface="Rockwell Light" panose="02040303020102020203" pitchFamily="18" charset="0"/>
                <a:cs typeface="Segoe UI" panose="020B0502040204020203" pitchFamily="34" charset="0"/>
              </a:rPr>
              <a:t> </a:t>
            </a:r>
            <a:r>
              <a:rPr lang="hr-HR" sz="14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dashboarda</a:t>
            </a:r>
            <a:endParaRPr lang="hr-HR" sz="1400" i="1" dirty="0">
              <a:latin typeface="Rockwell Light" panose="02040303020102020203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67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213E-79A9-3EAB-71CF-EDFDE18A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niOkvir 5">
            <a:extLst>
              <a:ext uri="{FF2B5EF4-FFF2-40B4-BE49-F238E27FC236}">
                <a16:creationId xmlns:a16="http://schemas.microsoft.com/office/drawing/2014/main" id="{660D1321-59BE-905F-8956-68D317170BD7}"/>
              </a:ext>
            </a:extLst>
          </p:cNvPr>
          <p:cNvSpPr txBox="1"/>
          <p:nvPr/>
        </p:nvSpPr>
        <p:spPr>
          <a:xfrm>
            <a:off x="383589" y="4456380"/>
            <a:ext cx="47224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1400" i="1" dirty="0">
                <a:latin typeface="Rockwell Light" panose="02040303020102020203" pitchFamily="18" charset="0"/>
                <a:cs typeface="Segoe UI" panose="020B0502040204020203" pitchFamily="34" charset="0"/>
              </a:rPr>
              <a:t>Slika: Prikaz </a:t>
            </a:r>
            <a:r>
              <a:rPr lang="hr-HR" sz="14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1400" i="1" dirty="0">
                <a:latin typeface="Rockwell Light" panose="02040303020102020203" pitchFamily="18" charset="0"/>
                <a:cs typeface="Segoe UI" panose="020B0502040204020203" pitchFamily="34" charset="0"/>
              </a:rPr>
              <a:t> Security </a:t>
            </a:r>
            <a:r>
              <a:rPr lang="hr-HR" sz="14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events</a:t>
            </a:r>
            <a:r>
              <a:rPr lang="hr-HR" sz="1400" i="1" dirty="0">
                <a:latin typeface="Rockwell Light" panose="02040303020102020203" pitchFamily="18" charset="0"/>
                <a:cs typeface="Segoe UI" panose="020B0502040204020203" pitchFamily="34" charset="0"/>
              </a:rPr>
              <a:t> dijela</a:t>
            </a:r>
          </a:p>
        </p:txBody>
      </p:sp>
      <p:pic>
        <p:nvPicPr>
          <p:cNvPr id="3" name="Slika 2" descr="Slika na kojoj se prikazuje snimka zaslona, tekst&#10;&#10;Sadržaj generiran uz AI možda nije točan.">
            <a:extLst>
              <a:ext uri="{FF2B5EF4-FFF2-40B4-BE49-F238E27FC236}">
                <a16:creationId xmlns:a16="http://schemas.microsoft.com/office/drawing/2014/main" id="{4A5CD276-B9B9-A186-0628-BA94DA4EA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52" y="779338"/>
            <a:ext cx="8535296" cy="358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2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C1E4F698-8361-5F64-ADA5-BF0664537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B14D98E9-5056-D79A-09CB-1AEA33825F04}"/>
              </a:ext>
            </a:extLst>
          </p:cNvPr>
          <p:cNvSpPr/>
          <p:nvPr/>
        </p:nvSpPr>
        <p:spPr>
          <a:xfrm>
            <a:off x="400048" y="703290"/>
            <a:ext cx="396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ED5847E-A24E-CB94-56B9-2164EFA8D24F}"/>
              </a:ext>
            </a:extLst>
          </p:cNvPr>
          <p:cNvSpPr txBox="1"/>
          <p:nvPr/>
        </p:nvSpPr>
        <p:spPr>
          <a:xfrm>
            <a:off x="269420" y="426291"/>
            <a:ext cx="40984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VIRTUALNI STROJ #2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E6237CD0-92DB-CC11-A59C-579E47A80F5D}"/>
              </a:ext>
            </a:extLst>
          </p:cNvPr>
          <p:cNvSpPr txBox="1"/>
          <p:nvPr/>
        </p:nvSpPr>
        <p:spPr>
          <a:xfrm>
            <a:off x="532474" y="1464785"/>
            <a:ext cx="8497226" cy="333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Uloga sustava: 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Simulacija korisničkog računala u korporativnom okruženju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Prikupljena telemetrija: 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Windows Event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Logs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,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Sysmon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(procesi, mreža, pristup memoriji),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Agent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Data </a:t>
            </a:r>
            <a:r>
              <a:rPr lang="hr-HR" sz="1800" b="1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Engineer</a:t>
            </a: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zadaci: </a:t>
            </a: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Instalacija i povezivanje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agenta</a:t>
            </a: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Omogućavanje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Sysmon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telemetrije</a:t>
            </a: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Verifikacija prijenosa logova prema SIEM-u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0FE9A412-5CAA-9B00-721E-073CB6FD37E6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>
                <a:latin typeface="Rockwell Light" panose="02040303020102020203" pitchFamily="18" charset="0"/>
              </a:rPr>
              <a:t>Data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A67C3661-156A-B669-B36D-CEEBDB1B8680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WINDOWS ENDPOINT (ŽRTVA)</a:t>
            </a:r>
          </a:p>
        </p:txBody>
      </p:sp>
    </p:spTree>
    <p:extLst>
      <p:ext uri="{BB962C8B-B14F-4D97-AF65-F5344CB8AC3E}">
        <p14:creationId xmlns:p14="http://schemas.microsoft.com/office/powerpoint/2010/main" val="124753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215F9341-DDE5-6843-E54B-4EBC9EDE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F5924097-D5CE-62E7-9AE5-EEBA13B36236}"/>
              </a:ext>
            </a:extLst>
          </p:cNvPr>
          <p:cNvSpPr/>
          <p:nvPr/>
        </p:nvSpPr>
        <p:spPr>
          <a:xfrm>
            <a:off x="400048" y="703290"/>
            <a:ext cx="396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3EBE3510-E158-8B65-C06A-334531EA5670}"/>
              </a:ext>
            </a:extLst>
          </p:cNvPr>
          <p:cNvSpPr txBox="1"/>
          <p:nvPr/>
        </p:nvSpPr>
        <p:spPr>
          <a:xfrm>
            <a:off x="269420" y="426291"/>
            <a:ext cx="40984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VIRTUALNI STROJ #3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09C6996B-6EAB-691A-9F25-02DFE23DF03C}"/>
              </a:ext>
            </a:extLst>
          </p:cNvPr>
          <p:cNvSpPr txBox="1"/>
          <p:nvPr/>
        </p:nvSpPr>
        <p:spPr>
          <a:xfrm>
            <a:off x="532474" y="1464785"/>
            <a:ext cx="8497226" cy="2920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Uloga sustava: 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Simulacija vanjskih i unutarnjih napada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Korišteni alati: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Hydra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(SSH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brute-force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), Atomic Red Team, </a:t>
            </a:r>
            <a:r>
              <a:rPr lang="hr-HR" sz="18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tcpdump</a:t>
            </a: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(DNS analiza)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Data </a:t>
            </a:r>
            <a:r>
              <a:rPr lang="hr-HR" sz="1800" b="1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Engineer</a:t>
            </a:r>
            <a:r>
              <a:rPr lang="hr-HR" sz="18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zadaci: </a:t>
            </a: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Mrežno povezivanje s ostalim sustavima</a:t>
            </a: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Testiranje vidljivosti napada kroz SIEM</a:t>
            </a:r>
          </a:p>
          <a:p>
            <a:pPr lvl="2">
              <a:lnSpc>
                <a:spcPct val="150000"/>
              </a:lnSpc>
              <a:spcAft>
                <a:spcPts val="600"/>
              </a:spcAft>
            </a:pPr>
            <a:r>
              <a:rPr lang="hr-HR" sz="18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Osiguravanje izolacije laboratorija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284299C8-2509-6310-313F-B8F12FA9835A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>
                <a:latin typeface="Rockwell Light" panose="02040303020102020203" pitchFamily="18" charset="0"/>
              </a:rPr>
              <a:t>Data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FCD23ED7-D576-9427-24D6-577C7C7B4506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ATTACK / TESTING MACHINE (Kali Linux)</a:t>
            </a:r>
          </a:p>
        </p:txBody>
      </p:sp>
    </p:spTree>
    <p:extLst>
      <p:ext uri="{BB962C8B-B14F-4D97-AF65-F5344CB8AC3E}">
        <p14:creationId xmlns:p14="http://schemas.microsoft.com/office/powerpoint/2010/main" val="52040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DAE2451E-7285-00C5-FD7A-62F3D170D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C5004CD8-0A8E-F7A7-524C-C0B68293D4CD}"/>
              </a:ext>
            </a:extLst>
          </p:cNvPr>
          <p:cNvSpPr/>
          <p:nvPr/>
        </p:nvSpPr>
        <p:spPr>
          <a:xfrm>
            <a:off x="400048" y="703290"/>
            <a:ext cx="486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8" name="Slika 7" descr="Slika na kojoj se prikazuje tekst, računalo, snimka zaslona, crtić&#10;&#10;Sadržaj generiran uz AI možda nije točan.">
            <a:extLst>
              <a:ext uri="{FF2B5EF4-FFF2-40B4-BE49-F238E27FC236}">
                <a16:creationId xmlns:a16="http://schemas.microsoft.com/office/drawing/2014/main" id="{E674146F-073C-A2C9-A492-C371F8AFB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42" y="1289186"/>
            <a:ext cx="5615154" cy="3158524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97DBA54B-1905-A69B-B987-6CDF8D1EC913}"/>
              </a:ext>
            </a:extLst>
          </p:cNvPr>
          <p:cNvSpPr txBox="1"/>
          <p:nvPr/>
        </p:nvSpPr>
        <p:spPr>
          <a:xfrm>
            <a:off x="269420" y="426291"/>
            <a:ext cx="49802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Dizajn virtualnog okruženja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3C61A86C-629C-A5A8-06F9-5E1875F92279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>
                <a:latin typeface="Rockwell Light" panose="02040303020102020203" pitchFamily="18" charset="0"/>
              </a:rPr>
              <a:t>Data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75FFFD53-51AC-4997-AA5E-D1573419B29F}"/>
              </a:ext>
            </a:extLst>
          </p:cNvPr>
          <p:cNvSpPr txBox="1"/>
          <p:nvPr/>
        </p:nvSpPr>
        <p:spPr>
          <a:xfrm>
            <a:off x="643014" y="4309405"/>
            <a:ext cx="54250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Slika 1. Dijagram mrežne arhitekture laboratorijskog okruženja </a:t>
            </a:r>
          </a:p>
        </p:txBody>
      </p:sp>
    </p:spTree>
    <p:extLst>
      <p:ext uri="{BB962C8B-B14F-4D97-AF65-F5344CB8AC3E}">
        <p14:creationId xmlns:p14="http://schemas.microsoft.com/office/powerpoint/2010/main" val="283715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28FD2817-1638-237B-495C-0841AF32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1A4ACEB3-E693-9B64-EA2F-7A968D36882B}"/>
              </a:ext>
            </a:extLst>
          </p:cNvPr>
          <p:cNvSpPr/>
          <p:nvPr/>
        </p:nvSpPr>
        <p:spPr>
          <a:xfrm>
            <a:off x="400048" y="703290"/>
            <a:ext cx="5910943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932D4C84-BBD1-A058-1219-EFF528FC58D6}"/>
              </a:ext>
            </a:extLst>
          </p:cNvPr>
          <p:cNvSpPr txBox="1"/>
          <p:nvPr/>
        </p:nvSpPr>
        <p:spPr>
          <a:xfrm>
            <a:off x="269420" y="426291"/>
            <a:ext cx="61721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01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SSH Brute Force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na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Honeypot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A87F1C9F-2DF6-25E5-EBD6-C9ECCF6B0238}"/>
              </a:ext>
            </a:extLst>
          </p:cNvPr>
          <p:cNvSpPr txBox="1"/>
          <p:nvPr/>
        </p:nvSpPr>
        <p:spPr>
          <a:xfrm>
            <a:off x="532474" y="1464785"/>
            <a:ext cx="6474279" cy="2652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MITRE ATT&amp;CK: T1110.001 – Password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Guessing</a:t>
            </a: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Napadač: Kali Linux virtualni stroj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Meta: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Cowrie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SSH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honeypot</a:t>
            </a: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Alat: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Hydra</a:t>
            </a: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Cilj: Dobiti početni pristup sustavu pogađanjem lozinki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AC7DB290-BC64-8AD7-0152-5EA0C5DF98DA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21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5FC3488D-8B6E-129C-DAAB-1B50832C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C822FB9A-66FC-4281-67F2-A3E95BFB723E}"/>
              </a:ext>
            </a:extLst>
          </p:cNvPr>
          <p:cNvSpPr/>
          <p:nvPr/>
        </p:nvSpPr>
        <p:spPr>
          <a:xfrm>
            <a:off x="400048" y="703290"/>
            <a:ext cx="5910943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8ECDE497-2A8B-89D7-326F-0D7AFB2F86B4}"/>
              </a:ext>
            </a:extLst>
          </p:cNvPr>
          <p:cNvSpPr txBox="1"/>
          <p:nvPr/>
        </p:nvSpPr>
        <p:spPr>
          <a:xfrm>
            <a:off x="269420" y="426291"/>
            <a:ext cx="61721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01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SSH Brute Force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na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Honeypot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DF92125E-A14C-131E-4894-5191A6A6D1A6}"/>
              </a:ext>
            </a:extLst>
          </p:cNvPr>
          <p:cNvSpPr txBox="1"/>
          <p:nvPr/>
        </p:nvSpPr>
        <p:spPr>
          <a:xfrm>
            <a:off x="532474" y="1464785"/>
            <a:ext cx="6474279" cy="2114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Velik broj SSH pokušaja u kratkom vremenu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Cowrie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bilježi korisnike, lozinke i IP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adres</a:t>
            </a: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Generirani zapisi za daljnju analizu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Omogućeno prepoznavanje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brute-force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obrasca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04E47C8C-B680-6AB5-1AED-79BE953B5182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0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F7FED372-0E95-4A43-674F-6D1F0BA6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EA396923-8E80-AFFD-3B5E-FFFFFDF131D2}"/>
              </a:ext>
            </a:extLst>
          </p:cNvPr>
          <p:cNvSpPr/>
          <p:nvPr/>
        </p:nvSpPr>
        <p:spPr>
          <a:xfrm>
            <a:off x="400048" y="703290"/>
            <a:ext cx="5910943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29BD8B25-5321-2929-394C-8B9D86087983}"/>
              </a:ext>
            </a:extLst>
          </p:cNvPr>
          <p:cNvSpPr txBox="1"/>
          <p:nvPr/>
        </p:nvSpPr>
        <p:spPr>
          <a:xfrm>
            <a:off x="269420" y="426291"/>
            <a:ext cx="61721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01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SSH Brute Force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na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Honeypot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84C91CEF-B548-AD18-EACD-EA6FEEB49B84}"/>
              </a:ext>
            </a:extLst>
          </p:cNvPr>
          <p:cNvGrpSpPr/>
          <p:nvPr/>
        </p:nvGrpSpPr>
        <p:grpSpPr>
          <a:xfrm>
            <a:off x="643014" y="1419755"/>
            <a:ext cx="6565482" cy="3151260"/>
            <a:chOff x="1246518" y="1472475"/>
            <a:chExt cx="6565482" cy="3151260"/>
          </a:xfrm>
        </p:grpSpPr>
        <p:pic>
          <p:nvPicPr>
            <p:cNvPr id="5" name="Slika 4" descr="Slika na kojoj se prikazuje tekst, snimka zaslona&#10;&#10;Sadržaj generiran uz AI možda nije točan.">
              <a:extLst>
                <a:ext uri="{FF2B5EF4-FFF2-40B4-BE49-F238E27FC236}">
                  <a16:creationId xmlns:a16="http://schemas.microsoft.com/office/drawing/2014/main" id="{1284CD42-70B1-6ED7-9C35-27CEF8813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2000" y="1472475"/>
              <a:ext cx="6480000" cy="2877143"/>
            </a:xfrm>
            <a:prstGeom prst="rect">
              <a:avLst/>
            </a:prstGeom>
          </p:spPr>
        </p:pic>
        <p:sp>
          <p:nvSpPr>
            <p:cNvPr id="7" name="TekstniOkvir 6">
              <a:extLst>
                <a:ext uri="{FF2B5EF4-FFF2-40B4-BE49-F238E27FC236}">
                  <a16:creationId xmlns:a16="http://schemas.microsoft.com/office/drawing/2014/main" id="{BE84F7DF-1973-5482-9C89-43457DF0B88B}"/>
                </a:ext>
              </a:extLst>
            </p:cNvPr>
            <p:cNvSpPr txBox="1"/>
            <p:nvPr/>
          </p:nvSpPr>
          <p:spPr>
            <a:xfrm>
              <a:off x="1246518" y="4362125"/>
              <a:ext cx="54250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sz="1100" i="1" dirty="0">
                  <a:latin typeface="Rockwell Light" panose="02040303020102020203" pitchFamily="18" charset="0"/>
                  <a:cs typeface="Segoe UI" panose="020B0502040204020203" pitchFamily="34" charset="0"/>
                </a:rPr>
                <a:t>Slika 2. Uspješan napad grubom silom (Brute </a:t>
              </a:r>
              <a:r>
                <a:rPr lang="hr-HR" sz="1100" i="1" dirty="0" err="1">
                  <a:latin typeface="Rockwell Light" panose="02040303020102020203" pitchFamily="18" charset="0"/>
                  <a:cs typeface="Segoe UI" panose="020B0502040204020203" pitchFamily="34" charset="0"/>
                </a:rPr>
                <a:t>Force</a:t>
              </a:r>
              <a:r>
                <a:rPr lang="hr-HR" sz="1100" i="1" dirty="0">
                  <a:latin typeface="Rockwell Light" panose="02040303020102020203" pitchFamily="18" charset="0"/>
                  <a:cs typeface="Segoe UI" panose="020B0502040204020203" pitchFamily="34" charset="0"/>
                </a:rPr>
                <a:t>) </a:t>
              </a:r>
            </a:p>
          </p:txBody>
        </p:sp>
      </p:grpSp>
      <p:sp>
        <p:nvSpPr>
          <p:cNvPr id="10" name="TekstniOkvir 9">
            <a:extLst>
              <a:ext uri="{FF2B5EF4-FFF2-40B4-BE49-F238E27FC236}">
                <a16:creationId xmlns:a16="http://schemas.microsoft.com/office/drawing/2014/main" id="{A98A7177-75CA-263E-5064-6A71696867C3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40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70AA3E96-0ADE-ACD8-351A-DA1399D6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D7C68468-1741-468F-3297-992332FDF586}"/>
              </a:ext>
            </a:extLst>
          </p:cNvPr>
          <p:cNvSpPr/>
          <p:nvPr/>
        </p:nvSpPr>
        <p:spPr>
          <a:xfrm>
            <a:off x="400048" y="703290"/>
            <a:ext cx="5910943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3" name="Slika 2" descr="Slika na kojoj se prikazuje tekst, snimka zaslona&#10;&#10;Sadržaj generiran uz AI možda nije točan.">
            <a:extLst>
              <a:ext uri="{FF2B5EF4-FFF2-40B4-BE49-F238E27FC236}">
                <a16:creationId xmlns:a16="http://schemas.microsoft.com/office/drawing/2014/main" id="{86987027-3F63-3202-25CE-105F3C9C08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2" r="3285"/>
          <a:stretch>
            <a:fillRect/>
          </a:stretch>
        </p:blipFill>
        <p:spPr bwMode="auto">
          <a:xfrm>
            <a:off x="728495" y="1419755"/>
            <a:ext cx="6702869" cy="288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D0B95D6C-0F14-E3DA-7821-CC8C05ED7028}"/>
              </a:ext>
            </a:extLst>
          </p:cNvPr>
          <p:cNvSpPr txBox="1"/>
          <p:nvPr/>
        </p:nvSpPr>
        <p:spPr>
          <a:xfrm>
            <a:off x="269420" y="426291"/>
            <a:ext cx="61721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01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SSH Brute Force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na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Honeypot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DF1AE8F5-0537-DCF4-2EBB-9607955A1961}"/>
              </a:ext>
            </a:extLst>
          </p:cNvPr>
          <p:cNvSpPr txBox="1"/>
          <p:nvPr/>
        </p:nvSpPr>
        <p:spPr>
          <a:xfrm>
            <a:off x="643014" y="4309405"/>
            <a:ext cx="80529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Slika 3. Prikaz sirovih JSON logova u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Cowrie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sustavu koji potvrđuju uspješnu detekciju napadačkih pokušaja prijave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1E49F48A-95DB-5654-B55A-A3E26E83B06A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013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51CBBC99-375D-B30E-5044-E39F3C983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A18E5B7D-DE76-4EA1-45DC-1266F5962F19}"/>
              </a:ext>
            </a:extLst>
          </p:cNvPr>
          <p:cNvSpPr/>
          <p:nvPr/>
        </p:nvSpPr>
        <p:spPr>
          <a:xfrm>
            <a:off x="400048" y="703290"/>
            <a:ext cx="5910943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C45498F6-0FD1-0BD1-9092-F2BB4C170B1D}"/>
              </a:ext>
            </a:extLst>
          </p:cNvPr>
          <p:cNvSpPr txBox="1"/>
          <p:nvPr/>
        </p:nvSpPr>
        <p:spPr>
          <a:xfrm>
            <a:off x="269420" y="426291"/>
            <a:ext cx="61721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01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SSH Brute Force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na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Honeypot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7097661F-E52C-8AB9-0A95-E46EDF19B4EB}"/>
              </a:ext>
            </a:extLst>
          </p:cNvPr>
          <p:cNvSpPr txBox="1"/>
          <p:nvPr/>
        </p:nvSpPr>
        <p:spPr>
          <a:xfrm>
            <a:off x="532474" y="1464785"/>
            <a:ext cx="8273198" cy="296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Hipoteza: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Višestruke uzastopne uspješne prijave u kratkom intervalu s iste lokacije ukazuju na kompromitaciju sustava brute-force napadom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Plan lova: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Analiza Cowrie honeypot logova integriranih u Wazuh platformu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Anomalija: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Identificiran neuobičajen broj autentifikacijskih događaja koji odstupaju od standardnog ponašanja korisnika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9D6BAB7E-BB63-D54E-909D-E03D66189B7E}"/>
              </a:ext>
            </a:extLst>
          </p:cNvPr>
          <p:cNvSpPr txBox="1"/>
          <p:nvPr/>
        </p:nvSpPr>
        <p:spPr>
          <a:xfrm>
            <a:off x="532474" y="1012187"/>
            <a:ext cx="270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HIPOTEZA I ISTRAŽIVANJE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BA5A9024-C3BF-7829-B5F0-078A00A443D8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1311484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A8B781F9-481D-FD16-A3FC-48D3928B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B9DDB111-4BB5-E58D-56E5-96E27FE8A63E}"/>
              </a:ext>
            </a:extLst>
          </p:cNvPr>
          <p:cNvSpPr/>
          <p:nvPr/>
        </p:nvSpPr>
        <p:spPr>
          <a:xfrm>
            <a:off x="400048" y="703290"/>
            <a:ext cx="5910943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D0EC8D90-A588-B761-3598-6FF091DCA2FB}"/>
              </a:ext>
            </a:extLst>
          </p:cNvPr>
          <p:cNvSpPr txBox="1"/>
          <p:nvPr/>
        </p:nvSpPr>
        <p:spPr>
          <a:xfrm>
            <a:off x="269420" y="426291"/>
            <a:ext cx="61721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01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SSH Brute Force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na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Honeypot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A1C4B95C-F386-DFCD-EB61-7A1A9D1C1CE2}"/>
              </a:ext>
            </a:extLst>
          </p:cNvPr>
          <p:cNvSpPr txBox="1"/>
          <p:nvPr/>
        </p:nvSpPr>
        <p:spPr>
          <a:xfrm>
            <a:off x="532474" y="1464785"/>
            <a:ext cx="8273198" cy="203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Odabrana tehnika: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Analiza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autentifikacijskih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logova i korelacija događaja u stvarnom vremenu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Ključni alat: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Custom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pravilo za detekciju frekvencije događaja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Implementacija: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Modifikacija local_rules.xml na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Manageru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D5EB2424-8442-4B24-4648-267060858EF8}"/>
              </a:ext>
            </a:extLst>
          </p:cNvPr>
          <p:cNvSpPr txBox="1"/>
          <p:nvPr/>
        </p:nvSpPr>
        <p:spPr>
          <a:xfrm>
            <a:off x="532474" y="1012187"/>
            <a:ext cx="2706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STRATEGIJA I TEHNIKE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533A8094-7838-598C-43C6-01D106D0380E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2734851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652C4995-9A9D-F0C8-A4E5-43EE702C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9A9CEB9D-5616-050A-8290-D3170FB80D20}"/>
              </a:ext>
            </a:extLst>
          </p:cNvPr>
          <p:cNvSpPr/>
          <p:nvPr/>
        </p:nvSpPr>
        <p:spPr>
          <a:xfrm>
            <a:off x="400048" y="703290"/>
            <a:ext cx="5910943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0ED0A9A8-3C92-A493-70A2-DB8C7B758259}"/>
              </a:ext>
            </a:extLst>
          </p:cNvPr>
          <p:cNvSpPr txBox="1"/>
          <p:nvPr/>
        </p:nvSpPr>
        <p:spPr>
          <a:xfrm>
            <a:off x="269420" y="426291"/>
            <a:ext cx="61721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01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SSH Brute Force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na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Honeypot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3CC73E06-ED41-4C7E-9541-A4071E50590B}"/>
              </a:ext>
            </a:extLst>
          </p:cNvPr>
          <p:cNvSpPr txBox="1"/>
          <p:nvPr/>
        </p:nvSpPr>
        <p:spPr>
          <a:xfrm>
            <a:off x="532474" y="1464785"/>
            <a:ext cx="3637190" cy="2422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frekvencija: 3 uspješne prijave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vremenski okvir: 600 sekundi uvjet: ista lokacija (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same_location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) i uspješna prethodna prijava (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sid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60106)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D2EA5CF0-1EB2-260C-46B5-A4FFF2FBE1BE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REALIZACIJA: CUSTOM WAZUH PRAVILO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5EAFBA36-B1CB-0E1B-89F3-A47F9DA623B4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975184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58A4FCC9-B9DF-3294-E4E2-282F1F75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48DDAF30-A3AF-0BE3-02D3-0C384266350A}"/>
              </a:ext>
            </a:extLst>
          </p:cNvPr>
          <p:cNvSpPr/>
          <p:nvPr/>
        </p:nvSpPr>
        <p:spPr>
          <a:xfrm>
            <a:off x="400048" y="703290"/>
            <a:ext cx="5910943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2EBB555-9A27-96AC-3D97-01536DAC27F9}"/>
              </a:ext>
            </a:extLst>
          </p:cNvPr>
          <p:cNvSpPr txBox="1"/>
          <p:nvPr/>
        </p:nvSpPr>
        <p:spPr>
          <a:xfrm>
            <a:off x="269420" y="426291"/>
            <a:ext cx="61721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01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SSH Brute Force 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na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Honeypot</a:t>
            </a:r>
            <a:endParaRPr kumimoji="0" lang="hr-HR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9F158A45-B100-8624-5B3D-AC3113AD6CCD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REALIZACIJA: CUSTOM WAZUH PRAVILO</a:t>
            </a:r>
          </a:p>
        </p:txBody>
      </p:sp>
      <p:pic>
        <p:nvPicPr>
          <p:cNvPr id="5" name="Slika 4" descr="Slika na kojoj se prikazuje tekst, snimka zaslona, Font, algebra&#10;&#10;Sadržaj generiran uz AI možda nije točan.">
            <a:extLst>
              <a:ext uri="{FF2B5EF4-FFF2-40B4-BE49-F238E27FC236}">
                <a16:creationId xmlns:a16="http://schemas.microsoft.com/office/drawing/2014/main" id="{230EF36E-96AE-E442-8D11-1058DAB3B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73" y="1777927"/>
            <a:ext cx="6316521" cy="2353386"/>
          </a:xfrm>
          <a:prstGeom prst="rect">
            <a:avLst/>
          </a:prstGeom>
        </p:spPr>
      </p:pic>
      <p:sp>
        <p:nvSpPr>
          <p:cNvPr id="7" name="TekstniOkvir 6">
            <a:extLst>
              <a:ext uri="{FF2B5EF4-FFF2-40B4-BE49-F238E27FC236}">
                <a16:creationId xmlns:a16="http://schemas.microsoft.com/office/drawing/2014/main" id="{57F217C8-F037-36FB-8DF0-1B670D453C28}"/>
              </a:ext>
            </a:extLst>
          </p:cNvPr>
          <p:cNvSpPr txBox="1"/>
          <p:nvPr/>
        </p:nvSpPr>
        <p:spPr>
          <a:xfrm>
            <a:off x="643014" y="4309405"/>
            <a:ext cx="80529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Slika 4.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Custom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pravilo</a:t>
            </a:r>
          </a:p>
          <a:p>
            <a:endParaRPr lang="hr-HR" sz="11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26FCBF8A-39AF-09DB-FE0F-61F8D31A33F3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2908714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F25A3261-C182-5857-C59C-2AE24397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8C36C331-3050-AF61-9AC4-EB291FA07BA2}"/>
              </a:ext>
            </a:extLst>
          </p:cNvPr>
          <p:cNvSpPr/>
          <p:nvPr/>
        </p:nvSpPr>
        <p:spPr>
          <a:xfrm>
            <a:off x="400047" y="703290"/>
            <a:ext cx="720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37CE8BAF-B4DF-5C27-C959-1E6402BDEE0D}"/>
              </a:ext>
            </a:extLst>
          </p:cNvPr>
          <p:cNvSpPr txBox="1"/>
          <p:nvPr/>
        </p:nvSpPr>
        <p:spPr>
          <a:xfrm>
            <a:off x="400048" y="426291"/>
            <a:ext cx="7347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02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Credential Dumping - LSASS Memory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94B3FB8E-0C12-466D-F3FB-9A1CB7DE12AD}"/>
              </a:ext>
            </a:extLst>
          </p:cNvPr>
          <p:cNvSpPr txBox="1"/>
          <p:nvPr/>
        </p:nvSpPr>
        <p:spPr>
          <a:xfrm>
            <a:off x="532474" y="1464785"/>
            <a:ext cx="6474279" cy="2652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MITRE ATT&amp;CK: T1003.001 - LSASS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Memor</a:t>
            </a: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Meta: Windows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Endpoint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VM (krađa vjerodajnica)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l-PL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Pretpostavka da je napadač ostvario početni pristup</a:t>
            </a: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Alat: Atomic Red Team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Cilj: Pristup vjerodajnicama iz memorije sustava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C3BE6AF6-D110-0EE8-3DE2-734E9B04E1CD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166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BAB7F245-27DF-48AB-010F-A1D7BCAB1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A2BFAB1A-BD81-F16E-E757-A6745C13AF3D}"/>
              </a:ext>
            </a:extLst>
          </p:cNvPr>
          <p:cNvSpPr/>
          <p:nvPr/>
        </p:nvSpPr>
        <p:spPr>
          <a:xfrm>
            <a:off x="400047" y="703290"/>
            <a:ext cx="720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AEEAD1BF-FBE0-C0EA-AEC8-82F73ECF16D6}"/>
              </a:ext>
            </a:extLst>
          </p:cNvPr>
          <p:cNvSpPr txBox="1"/>
          <p:nvPr/>
        </p:nvSpPr>
        <p:spPr>
          <a:xfrm>
            <a:off x="400048" y="426291"/>
            <a:ext cx="7347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02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Credential Dumping - LSASS Memory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F1B1FB1F-D375-11DC-8B41-9BC42F69B254}"/>
              </a:ext>
            </a:extLst>
          </p:cNvPr>
          <p:cNvSpPr txBox="1"/>
          <p:nvPr/>
        </p:nvSpPr>
        <p:spPr>
          <a:xfrm>
            <a:off x="532474" y="1464785"/>
            <a:ext cx="6474279" cy="157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Pokušaj pristupa procesu lsass.exe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Generirani sigurnosni događaji na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endpointu</a:t>
            </a: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Zabilježeni pokušaji neovlaštenog pristupa memoriji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59A31C65-E463-6D28-7206-0C433B6EA6F0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625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98ADF9F5-2713-5D5E-F235-23266DF5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niOkvir 6">
            <a:extLst>
              <a:ext uri="{FF2B5EF4-FFF2-40B4-BE49-F238E27FC236}">
                <a16:creationId xmlns:a16="http://schemas.microsoft.com/office/drawing/2014/main" id="{894A5271-9984-EAE0-E41A-EFB3FD0A764F}"/>
              </a:ext>
            </a:extLst>
          </p:cNvPr>
          <p:cNvSpPr txBox="1"/>
          <p:nvPr/>
        </p:nvSpPr>
        <p:spPr>
          <a:xfrm>
            <a:off x="643014" y="4309405"/>
            <a:ext cx="80529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Slika 5. Izvođenje simulacije napada alatom Atomic Red Team</a:t>
            </a:r>
          </a:p>
          <a:p>
            <a:endParaRPr lang="hr-HR" sz="11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C585F4BE-77C9-C99A-0FBF-D9F0D23E7F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95" y="1306487"/>
            <a:ext cx="4594229" cy="2971020"/>
          </a:xfrm>
          <a:prstGeom prst="rect">
            <a:avLst/>
          </a:prstGeom>
          <a:noFill/>
        </p:spPr>
      </p:pic>
      <p:sp>
        <p:nvSpPr>
          <p:cNvPr id="5" name="Pravokutnik: zaobljeni kutovi 4">
            <a:extLst>
              <a:ext uri="{FF2B5EF4-FFF2-40B4-BE49-F238E27FC236}">
                <a16:creationId xmlns:a16="http://schemas.microsoft.com/office/drawing/2014/main" id="{747C0DF6-0790-7AFC-743C-2D3D3DC80DB7}"/>
              </a:ext>
            </a:extLst>
          </p:cNvPr>
          <p:cNvSpPr/>
          <p:nvPr/>
        </p:nvSpPr>
        <p:spPr>
          <a:xfrm>
            <a:off x="400047" y="703290"/>
            <a:ext cx="720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F558A72F-2E6D-ED2D-386E-29705DCE2C40}"/>
              </a:ext>
            </a:extLst>
          </p:cNvPr>
          <p:cNvSpPr txBox="1"/>
          <p:nvPr/>
        </p:nvSpPr>
        <p:spPr>
          <a:xfrm>
            <a:off x="400048" y="426291"/>
            <a:ext cx="7347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02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Credential Dumping - LSASS Memory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80B80E6D-B1BE-7A60-1062-5B5AD57F989A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862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7F8403C4-1BE0-73F0-9A1E-C814E022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74335D10-04AB-749E-B872-BD2EB52EF451}"/>
              </a:ext>
            </a:extLst>
          </p:cNvPr>
          <p:cNvSpPr/>
          <p:nvPr/>
        </p:nvSpPr>
        <p:spPr>
          <a:xfrm>
            <a:off x="400047" y="703290"/>
            <a:ext cx="720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9BD4F709-10D5-B0E5-A68D-683F925B931B}"/>
              </a:ext>
            </a:extLst>
          </p:cNvPr>
          <p:cNvSpPr txBox="1"/>
          <p:nvPr/>
        </p:nvSpPr>
        <p:spPr>
          <a:xfrm>
            <a:off x="400048" y="426291"/>
            <a:ext cx="7347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02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Credential Dumping - LSASS Memory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CF1864A3-540E-F8EE-3EDC-7C428BF8186A}"/>
              </a:ext>
            </a:extLst>
          </p:cNvPr>
          <p:cNvSpPr txBox="1"/>
          <p:nvPr/>
        </p:nvSpPr>
        <p:spPr>
          <a:xfrm>
            <a:off x="532474" y="1464785"/>
            <a:ext cx="8373782" cy="249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Hipoteza: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Napad alatom Atomic Red Team nad LSASS procesom generirat će zapise o neovlaštenom pristupu osjetljivoj memoriji sustava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Cilj: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Identifikacija pokušaja krađe vjerodajnica iz radne memorije sustava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Plan lova: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Prikupljati detaljne podatke o aktivnostima sustava putem alata Sysmon i korelirati je s Wazuh platformom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94EFA5A0-C98F-1E75-2AC3-A34FFB0F1131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HIPOTEZA I PLAN LOVA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ADF02022-6806-3167-C95D-C8FD8A7D8AC2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3443091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4233F9F7-CE5D-61D2-B53D-DE8C1425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E0E04B5B-D669-E597-BAB5-FB9279A7C8BE}"/>
              </a:ext>
            </a:extLst>
          </p:cNvPr>
          <p:cNvSpPr/>
          <p:nvPr/>
        </p:nvSpPr>
        <p:spPr>
          <a:xfrm>
            <a:off x="400047" y="703290"/>
            <a:ext cx="720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A36C8C39-AA26-8244-C680-C1F22DA49424}"/>
              </a:ext>
            </a:extLst>
          </p:cNvPr>
          <p:cNvSpPr txBox="1"/>
          <p:nvPr/>
        </p:nvSpPr>
        <p:spPr>
          <a:xfrm>
            <a:off x="400048" y="426291"/>
            <a:ext cx="7347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02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Credential Dumping - LSASS Memory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71F31254-D838-ED29-25AB-376E6A4F3394}"/>
              </a:ext>
            </a:extLst>
          </p:cNvPr>
          <p:cNvSpPr txBox="1"/>
          <p:nvPr/>
        </p:nvSpPr>
        <p:spPr>
          <a:xfrm>
            <a:off x="532474" y="1464785"/>
            <a:ext cx="8373782" cy="296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Analiza </a:t>
            </a:r>
            <a:r>
              <a:rPr lang="hr-HR" sz="2000" b="1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Sysmon</a:t>
            </a: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zapisa: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Fokus na događaje koji prate pristup memoriji procesa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Integracija: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Povezivanje Sysmon događaja s Wazuh agentom radi centralizirane analize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Identifikacija anomalija: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Detekcija pokušaja neovlaštenog pristupa procesu lsass.exe radi krađe vjerodajnica.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ABDDB153-6296-3461-B8FB-C077573386AA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ODABRANE TEHNIKE DETEKCIJE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A69E6072-5746-5D84-C68C-E0F633B51814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1578184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5B964E0B-8A2C-0202-FDE8-68DB00B6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6F5D5B7D-98B2-2833-7F43-9E142EB1372D}"/>
              </a:ext>
            </a:extLst>
          </p:cNvPr>
          <p:cNvSpPr/>
          <p:nvPr/>
        </p:nvSpPr>
        <p:spPr>
          <a:xfrm>
            <a:off x="400047" y="703290"/>
            <a:ext cx="720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370C5211-E34C-873D-6010-BB7DA6D78541}"/>
              </a:ext>
            </a:extLst>
          </p:cNvPr>
          <p:cNvSpPr txBox="1"/>
          <p:nvPr/>
        </p:nvSpPr>
        <p:spPr>
          <a:xfrm>
            <a:off x="400048" y="426291"/>
            <a:ext cx="73475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02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Credential Dumping - LSASS Memory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9B67D858-34EC-D523-12B9-F6C95595110A}"/>
              </a:ext>
            </a:extLst>
          </p:cNvPr>
          <p:cNvSpPr txBox="1"/>
          <p:nvPr/>
        </p:nvSpPr>
        <p:spPr>
          <a:xfrm>
            <a:off x="532474" y="1464785"/>
            <a:ext cx="8373782" cy="257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Kako bi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mogao analizirati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Sysmon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zapise, izvršena je nadopuna konfiguracije na Windows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endpointu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: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Putanja: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C:\Program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Files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(x86)\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ossec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-agent\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ossec.conf</a:t>
            </a:r>
            <a:endParaRPr lang="hr-HR" sz="20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0E421B2B-D604-1282-7873-5ACB8904D5E9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TEHNIČKA KONFIGURACIJA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5899B63-2E82-E8A8-422D-E32574E2E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2" y="2571750"/>
            <a:ext cx="7397135" cy="601218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B47DDB4E-AE1E-40CF-17FD-51FA2A9FDB1C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1182114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EDA14D1E-2C26-4F08-C768-8F696B5F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E78D318A-F29F-5CC8-CEF6-B0A53E37F8DF}"/>
              </a:ext>
            </a:extLst>
          </p:cNvPr>
          <p:cNvSpPr/>
          <p:nvPr/>
        </p:nvSpPr>
        <p:spPr>
          <a:xfrm>
            <a:off x="400047" y="703290"/>
            <a:ext cx="8172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301091B8-921A-BF37-6A16-5FB081C11A8D}"/>
              </a:ext>
            </a:extLst>
          </p:cNvPr>
          <p:cNvSpPr txBox="1"/>
          <p:nvPr/>
        </p:nvSpPr>
        <p:spPr>
          <a:xfrm>
            <a:off x="336039" y="426291"/>
            <a:ext cx="8343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03   </a:t>
            </a:r>
            <a:r>
              <a:rPr kumimoji="0" lang="pl-PL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Eksfiltracija podataka putem DNS protokola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ACDC1CE3-7CBA-22BD-2B89-188743F9BC7B}"/>
              </a:ext>
            </a:extLst>
          </p:cNvPr>
          <p:cNvSpPr txBox="1"/>
          <p:nvPr/>
        </p:nvSpPr>
        <p:spPr>
          <a:xfrm>
            <a:off x="532474" y="1464785"/>
            <a:ext cx="7711086" cy="311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MITRE ATT&amp;CK: T1048.003 -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Exfiltration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Over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DN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Odredište prometa: Kali Linux VM (DNS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listener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Izvor prometa: Windows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Endpoint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VM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Podaci se fragmentiraju i šalju kroz DNS upite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Cilj: prikaz kako se legitimni protokoli mogu zloupotrijebiti za prikrivenu krađu podataka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E1B69FD6-BF67-1FDF-4129-E51A6811AB9A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913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6B3989ED-3936-E827-AA2B-1B07776B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387008CF-3584-8A00-AC38-4D82E29C038B}"/>
              </a:ext>
            </a:extLst>
          </p:cNvPr>
          <p:cNvSpPr/>
          <p:nvPr/>
        </p:nvSpPr>
        <p:spPr>
          <a:xfrm>
            <a:off x="400047" y="703290"/>
            <a:ext cx="8172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D3D80A14-EE28-4F84-E5D0-1D75BAA1353D}"/>
              </a:ext>
            </a:extLst>
          </p:cNvPr>
          <p:cNvSpPr txBox="1"/>
          <p:nvPr/>
        </p:nvSpPr>
        <p:spPr>
          <a:xfrm>
            <a:off x="336039" y="426291"/>
            <a:ext cx="8343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03   </a:t>
            </a:r>
            <a:r>
              <a:rPr kumimoji="0" lang="pl-PL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Eksfiltracija podataka putem DNS protokola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1CDD3953-66C0-44CB-B5B7-2B24F3B095E8}"/>
              </a:ext>
            </a:extLst>
          </p:cNvPr>
          <p:cNvSpPr txBox="1"/>
          <p:nvPr/>
        </p:nvSpPr>
        <p:spPr>
          <a:xfrm>
            <a:off x="532474" y="1464785"/>
            <a:ext cx="6474279" cy="157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Neuobičajen DNS promet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Velik broj DNS upita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Nestandardni nazivi domena</a:t>
            </a: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760C6A6C-0037-A13A-CBFA-81690FB9C148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097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0B736595-D3FD-6741-32B9-99E04A91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niOkvir 6">
            <a:extLst>
              <a:ext uri="{FF2B5EF4-FFF2-40B4-BE49-F238E27FC236}">
                <a16:creationId xmlns:a16="http://schemas.microsoft.com/office/drawing/2014/main" id="{059596F1-CEEC-818A-730B-72527F3CB5A3}"/>
              </a:ext>
            </a:extLst>
          </p:cNvPr>
          <p:cNvSpPr txBox="1"/>
          <p:nvPr/>
        </p:nvSpPr>
        <p:spPr>
          <a:xfrm>
            <a:off x="643014" y="4309405"/>
            <a:ext cx="80529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Slika 6.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PowerShell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- izvođenje DNS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eksfiltracije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(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nslookup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) </a:t>
            </a:r>
          </a:p>
          <a:p>
            <a:endParaRPr lang="hr-HR" sz="11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Pravokutnik: zaobljeni kutovi 2">
            <a:extLst>
              <a:ext uri="{FF2B5EF4-FFF2-40B4-BE49-F238E27FC236}">
                <a16:creationId xmlns:a16="http://schemas.microsoft.com/office/drawing/2014/main" id="{D91320C3-E336-A730-1FB8-15BBCF8A629A}"/>
              </a:ext>
            </a:extLst>
          </p:cNvPr>
          <p:cNvSpPr/>
          <p:nvPr/>
        </p:nvSpPr>
        <p:spPr>
          <a:xfrm>
            <a:off x="400047" y="703290"/>
            <a:ext cx="8172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D1E0FD0C-2981-CC0E-1CB9-FAA13D6851DA}"/>
              </a:ext>
            </a:extLst>
          </p:cNvPr>
          <p:cNvSpPr txBox="1"/>
          <p:nvPr/>
        </p:nvSpPr>
        <p:spPr>
          <a:xfrm>
            <a:off x="336039" y="426291"/>
            <a:ext cx="8343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03   </a:t>
            </a:r>
            <a:r>
              <a:rPr kumimoji="0" lang="pl-PL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Eksfiltracija podataka putem DNS protokola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6FDD188E-B449-906B-1642-956E11ADB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95" y="1239226"/>
            <a:ext cx="4091184" cy="3038281"/>
          </a:xfrm>
          <a:prstGeom prst="rect">
            <a:avLst/>
          </a:prstGeom>
          <a:noFill/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831F78B6-D50E-DA37-71E3-F82F51CDF50D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924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B9B333FC-BE52-72FA-E2E3-C664EF9C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niOkvir 6">
            <a:extLst>
              <a:ext uri="{FF2B5EF4-FFF2-40B4-BE49-F238E27FC236}">
                <a16:creationId xmlns:a16="http://schemas.microsoft.com/office/drawing/2014/main" id="{37DFE3D1-5803-D913-96A2-061E427376C0}"/>
              </a:ext>
            </a:extLst>
          </p:cNvPr>
          <p:cNvSpPr txBox="1"/>
          <p:nvPr/>
        </p:nvSpPr>
        <p:spPr>
          <a:xfrm>
            <a:off x="643014" y="4309405"/>
            <a:ext cx="80529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Slika 7. Presretanje mrežnog prometa alatom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tcpdump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na Kali Linuxu </a:t>
            </a:r>
          </a:p>
          <a:p>
            <a:endParaRPr lang="hr-HR" sz="11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Pravokutnik: zaobljeni kutovi 2">
            <a:extLst>
              <a:ext uri="{FF2B5EF4-FFF2-40B4-BE49-F238E27FC236}">
                <a16:creationId xmlns:a16="http://schemas.microsoft.com/office/drawing/2014/main" id="{E03B0E82-F588-E731-2338-8083FEA42795}"/>
              </a:ext>
            </a:extLst>
          </p:cNvPr>
          <p:cNvSpPr/>
          <p:nvPr/>
        </p:nvSpPr>
        <p:spPr>
          <a:xfrm>
            <a:off x="400047" y="703290"/>
            <a:ext cx="8172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28E75DF3-383E-AC78-A214-5D0938F4C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95" y="1292179"/>
            <a:ext cx="4035529" cy="3017226"/>
          </a:xfrm>
          <a:prstGeom prst="rect">
            <a:avLst/>
          </a:prstGeom>
          <a:noFill/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345DEBF8-E714-63D7-E419-CA40BAF43E66}"/>
              </a:ext>
            </a:extLst>
          </p:cNvPr>
          <p:cNvSpPr txBox="1"/>
          <p:nvPr/>
        </p:nvSpPr>
        <p:spPr>
          <a:xfrm>
            <a:off x="336039" y="426291"/>
            <a:ext cx="8343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03   </a:t>
            </a:r>
            <a:r>
              <a:rPr kumimoji="0" lang="pl-PL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Eksfiltracija podataka putem DNS protokola</a:t>
            </a: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992B8586-2A43-C2E7-DB6F-96AF42D23877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Attack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Simulation</a:t>
            </a:r>
            <a:r>
              <a:rPr lang="hr-HR" dirty="0">
                <a:latin typeface="Rockwell Light" panose="02040303020102020203" pitchFamily="18" charset="0"/>
              </a:rPr>
              <a:t> </a:t>
            </a:r>
            <a:r>
              <a:rPr lang="hr-HR" dirty="0" err="1">
                <a:latin typeface="Rockwell Light" panose="02040303020102020203" pitchFamily="18" charset="0"/>
              </a:rPr>
              <a:t>Engineer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706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BAF3B41B-6473-8A13-223F-4F3BC8608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C5788A4F-0F3F-4730-47FC-4B31A3E16914}"/>
              </a:ext>
            </a:extLst>
          </p:cNvPr>
          <p:cNvSpPr/>
          <p:nvPr/>
        </p:nvSpPr>
        <p:spPr>
          <a:xfrm>
            <a:off x="400047" y="703290"/>
            <a:ext cx="8172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B31CAE4A-9A78-E587-1BCE-ADB914F8B8AE}"/>
              </a:ext>
            </a:extLst>
          </p:cNvPr>
          <p:cNvSpPr txBox="1"/>
          <p:nvPr/>
        </p:nvSpPr>
        <p:spPr>
          <a:xfrm>
            <a:off x="336039" y="426291"/>
            <a:ext cx="8343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03   </a:t>
            </a:r>
            <a:r>
              <a:rPr kumimoji="0" lang="pl-PL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Eksfiltracija podataka putem DNS protokola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6F3942B1-3FCC-1F3F-9E16-B233EF67A167}"/>
              </a:ext>
            </a:extLst>
          </p:cNvPr>
          <p:cNvSpPr txBox="1"/>
          <p:nvPr/>
        </p:nvSpPr>
        <p:spPr>
          <a:xfrm>
            <a:off x="532474" y="1464785"/>
            <a:ext cx="8343905" cy="296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Hipoteza: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Eksfiltracija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podataka putem DNS protokola s Windows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endpointa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generirat će zapise s neuobičajeno dugim nazivima domena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Cilj: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Identifikacija prikrivenih kanala za iznošenje podataka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Plan lova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: Korelacija mrežnog prometa prikupljenog alatom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tcpdump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sa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Sysmon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zapisima na razini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platforme radi lakšeg uočavanja anomalija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E5145701-199F-1650-F36A-600433C86CA8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HIPOTEZA I PLAN LOVA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F338FFC4-C27B-BCEC-E660-01D8998F60DF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1637300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2F29E8C1-0EAC-DF32-0AF4-DA6FB1D6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03CEA49A-C8C9-0D85-EF5F-9D9CE6DD5AEC}"/>
              </a:ext>
            </a:extLst>
          </p:cNvPr>
          <p:cNvSpPr/>
          <p:nvPr/>
        </p:nvSpPr>
        <p:spPr>
          <a:xfrm>
            <a:off x="400047" y="703290"/>
            <a:ext cx="8172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C44A80D8-5952-4A85-18C7-1CBC07ED44C9}"/>
              </a:ext>
            </a:extLst>
          </p:cNvPr>
          <p:cNvSpPr txBox="1"/>
          <p:nvPr/>
        </p:nvSpPr>
        <p:spPr>
          <a:xfrm>
            <a:off x="336039" y="426291"/>
            <a:ext cx="83439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03   </a:t>
            </a:r>
            <a:r>
              <a:rPr kumimoji="0" lang="pl-PL" sz="3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Eksfiltracija podataka putem DNS protokola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15573D1D-C5F4-92FF-9583-39E778B0B862}"/>
              </a:ext>
            </a:extLst>
          </p:cNvPr>
          <p:cNvSpPr txBox="1"/>
          <p:nvPr/>
        </p:nvSpPr>
        <p:spPr>
          <a:xfrm>
            <a:off x="532474" y="1464785"/>
            <a:ext cx="8343905" cy="2422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Izazov u detekciji: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Detekcija unutar same Wazuh platforme nije u potpunosti realizirana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Razlog: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Poteškoće prilikom integracije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Sysmon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DNS zapisa unutar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sustava, što je onemogućilo centralizirani prikaz anomalija u stvarnom vremenu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DF6B16DA-14B2-A3A7-BAFB-0F6EF5E19090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REZULTATI I IZAZOVI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6C9911E9-1636-38D4-36BF-ABA1B7640657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Threat</a:t>
            </a:r>
            <a:r>
              <a:rPr lang="hr-HR" dirty="0">
                <a:latin typeface="Rockwell Light" panose="02040303020102020203" pitchFamily="18" charset="0"/>
              </a:rPr>
              <a:t> Hunter</a:t>
            </a:r>
          </a:p>
        </p:txBody>
      </p:sp>
    </p:spTree>
    <p:extLst>
      <p:ext uri="{BB962C8B-B14F-4D97-AF65-F5344CB8AC3E}">
        <p14:creationId xmlns:p14="http://schemas.microsoft.com/office/powerpoint/2010/main" val="2202893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2CC835AB-FEF3-0233-AF56-FD86904A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485BACD4-8CAD-B555-9745-0072798FCEFD}"/>
              </a:ext>
            </a:extLst>
          </p:cNvPr>
          <p:cNvSpPr/>
          <p:nvPr/>
        </p:nvSpPr>
        <p:spPr>
          <a:xfrm>
            <a:off x="400047" y="703290"/>
            <a:ext cx="5904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A0046D36-FF2F-3F43-D3E2-BD6EC3BFA2B6}"/>
              </a:ext>
            </a:extLst>
          </p:cNvPr>
          <p:cNvSpPr txBox="1"/>
          <p:nvPr/>
        </p:nvSpPr>
        <p:spPr>
          <a:xfrm>
            <a:off x="400048" y="426291"/>
            <a:ext cx="58374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fr-F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Zapis lova #01 – SSH Brute-Force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E2E62CA2-BBEE-C6F2-EB7F-B8AD5C21BBDC}"/>
              </a:ext>
            </a:extLst>
          </p:cNvPr>
          <p:cNvSpPr txBox="1"/>
          <p:nvPr/>
        </p:nvSpPr>
        <p:spPr>
          <a:xfrm>
            <a:off x="532474" y="1464785"/>
            <a:ext cx="8373782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Hipoteza: 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Višestruke uzastopne prijave u kratkom intervalu ukazuju na pokušaj kompromitacije sustava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Izvor podataka: 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Cowrie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honeypot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logovi integrirani u 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endParaRPr lang="hr-HR" sz="1600" dirty="0">
              <a:solidFill>
                <a:schemeClr val="tx1">
                  <a:lumMod val="75000"/>
                </a:schemeClr>
              </a:solidFill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Analitički nalaz: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Honeypot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je uspješno izolirao i zabilježio napadačke IP adrese i korištene lozinke.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Rezultat: Implementirano 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custom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Wazuh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pravilo (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Level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12) za automatsko blokiranje ovakvih izvora.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70AE3D9F-705C-C5AD-AA23-D1A3853DED02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Analitički osvrt na prvi scenarij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BD9C59CC-DD37-C224-661E-0237826C5708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Analyst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668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F308EC5A-23B0-E052-A504-417DD8F7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4C5F8BC2-C131-97CB-332C-E84E25716918}"/>
              </a:ext>
            </a:extLst>
          </p:cNvPr>
          <p:cNvSpPr/>
          <p:nvPr/>
        </p:nvSpPr>
        <p:spPr>
          <a:xfrm>
            <a:off x="400047" y="703290"/>
            <a:ext cx="684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47C06067-612E-C670-2FD4-ED600CEB160E}"/>
              </a:ext>
            </a:extLst>
          </p:cNvPr>
          <p:cNvSpPr txBox="1"/>
          <p:nvPr/>
        </p:nvSpPr>
        <p:spPr>
          <a:xfrm>
            <a:off x="400048" y="426291"/>
            <a:ext cx="67437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fr-F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Zapis lova #0</a:t>
            </a: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2</a:t>
            </a:r>
            <a:r>
              <a:rPr lang="fr-F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:</a:t>
            </a: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LSASS </a:t>
            </a:r>
            <a:r>
              <a:rPr lang="hr-HR" sz="3000" dirty="0" err="1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Memory</a:t>
            </a: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Access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D5740F57-0223-EB22-F22A-7949E19CD619}"/>
              </a:ext>
            </a:extLst>
          </p:cNvPr>
          <p:cNvSpPr txBox="1"/>
          <p:nvPr/>
        </p:nvSpPr>
        <p:spPr>
          <a:xfrm>
            <a:off x="532474" y="1464785"/>
            <a:ext cx="8373782" cy="294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Hipoteza: 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Napadač će pokušati izvući lozinke iz memorije (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Credential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Dumping) koristeći legitimne alate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Izvor podataka: 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Sysmon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telemetrija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Analitički nalaz: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Identificiran pristup LSASS procesu od strane neovlaštenih aplikacija.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Zaključak: Čak i ako </a:t>
            </a:r>
            <a:r>
              <a:rPr lang="hr-HR" sz="16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antivirus</a:t>
            </a:r>
            <a:r>
              <a:rPr lang="hr-HR" sz="16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zakaže, telemetrija procesa otkriva "ponašanje" napadača koje odstupa od normale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0576F7F1-5F70-E868-C59E-9790BC530E55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40303020102020203" pitchFamily="18" charset="0"/>
              </a:rPr>
              <a:t>Analitički osvrt na drugi scenarij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D9E3AE29-08E1-3827-5331-9EAF0E49F820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Analyst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737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F308EC5A-23B0-E052-A504-417DD8F7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4C5F8BC2-C131-97CB-332C-E84E25716918}"/>
              </a:ext>
            </a:extLst>
          </p:cNvPr>
          <p:cNvSpPr/>
          <p:nvPr/>
        </p:nvSpPr>
        <p:spPr>
          <a:xfrm>
            <a:off x="400047" y="703291"/>
            <a:ext cx="558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/>
            <a:endParaRPr lang="hr-HR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47C06067-612E-C670-2FD4-ED600CEB160E}"/>
              </a:ext>
            </a:extLst>
          </p:cNvPr>
          <p:cNvSpPr txBox="1"/>
          <p:nvPr/>
        </p:nvSpPr>
        <p:spPr>
          <a:xfrm>
            <a:off x="400049" y="426292"/>
            <a:ext cx="55843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8">
              <a:buSzPts val="1100"/>
              <a:defRPr/>
            </a:pPr>
            <a:r>
              <a:rPr lang="fr-F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Zapis lova #0</a:t>
            </a: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3</a:t>
            </a:r>
            <a:r>
              <a:rPr lang="fr-F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:</a:t>
            </a: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DNS </a:t>
            </a:r>
            <a:r>
              <a:rPr lang="hr-HR" sz="3000" dirty="0" err="1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Exfiltration</a:t>
            </a:r>
            <a:endParaRPr lang="en-US" sz="3000" dirty="0"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D5740F57-0223-EB22-F22A-7949E19CD619}"/>
              </a:ext>
            </a:extLst>
          </p:cNvPr>
          <p:cNvSpPr txBox="1"/>
          <p:nvPr/>
        </p:nvSpPr>
        <p:spPr>
          <a:xfrm>
            <a:off x="532474" y="1464785"/>
            <a:ext cx="8373782" cy="331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8"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Hipoteza: </a:t>
            </a:r>
            <a:r>
              <a:rPr lang="hr-HR" sz="1600" dirty="0" err="1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Eksfiltracija</a:t>
            </a:r>
            <a:r>
              <a:rPr lang="hr-HR" sz="1600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podataka s </a:t>
            </a:r>
            <a:r>
              <a:rPr lang="hr-HR" sz="1600" dirty="0" err="1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endpointa</a:t>
            </a:r>
            <a:r>
              <a:rPr lang="hr-HR" sz="1600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generirat će upite s neuobičajeno dugim nazivima domena</a:t>
            </a:r>
          </a:p>
          <a:p>
            <a:pPr defTabSz="914378"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Istraživanje: </a:t>
            </a:r>
            <a:r>
              <a:rPr lang="hr-HR" sz="1600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Analiza </a:t>
            </a:r>
            <a:r>
              <a:rPr lang="hr-HR" sz="1600" dirty="0" err="1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Sysmon</a:t>
            </a:r>
            <a:r>
              <a:rPr lang="hr-HR" sz="1600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Event ID 22 (DNS upiti) i mrežnog prometa</a:t>
            </a:r>
          </a:p>
          <a:p>
            <a:pPr defTabSz="914378">
              <a:lnSpc>
                <a:spcPct val="150000"/>
              </a:lnSpc>
              <a:spcAft>
                <a:spcPts val="600"/>
              </a:spcAft>
            </a:pPr>
            <a:r>
              <a:rPr lang="hr-HR" sz="1600" b="1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Analitički nalaz:</a:t>
            </a:r>
          </a:p>
          <a:p>
            <a:pPr defTabSz="914378">
              <a:lnSpc>
                <a:spcPct val="150000"/>
              </a:lnSpc>
              <a:spcAft>
                <a:spcPts val="600"/>
              </a:spcAft>
            </a:pPr>
            <a:r>
              <a:rPr lang="hr-HR" sz="1600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Napadač je uspješno izveo </a:t>
            </a:r>
            <a:r>
              <a:rPr lang="hr-HR" sz="1600" dirty="0" err="1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eksfiltraciju</a:t>
            </a:r>
            <a:r>
              <a:rPr lang="hr-HR" sz="1600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, mrežni senzori su vidjeli promet, ali SIEM nije automatski alarmirao</a:t>
            </a:r>
          </a:p>
          <a:p>
            <a:pPr defTabSz="914378">
              <a:lnSpc>
                <a:spcPct val="150000"/>
              </a:lnSpc>
              <a:spcAft>
                <a:spcPts val="600"/>
              </a:spcAft>
            </a:pPr>
            <a:r>
              <a:rPr lang="hr-HR" sz="1600" dirty="0">
                <a:solidFill>
                  <a:srgbClr val="474F57">
                    <a:lumMod val="75000"/>
                  </a:srgb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Preporuka: Nužno uvođenje analitike temeljene na strojnom učenju za prepoznavanje statističkih anomalija u DNS prometu.</a:t>
            </a: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0576F7F1-5F70-E868-C59E-9790BC530E55}"/>
              </a:ext>
            </a:extLst>
          </p:cNvPr>
          <p:cNvSpPr txBox="1"/>
          <p:nvPr/>
        </p:nvSpPr>
        <p:spPr>
          <a:xfrm>
            <a:off x="532474" y="1012188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8"/>
            <a:r>
              <a:rPr lang="hr-HR" dirty="0">
                <a:latin typeface="Rockwell Light" panose="02040303020102020203" pitchFamily="18" charset="0"/>
              </a:rPr>
              <a:t>Analitički osvrt na treći scenarij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17BBA09B-6061-CA48-6876-9F1DDF004949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Analyst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035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9AF91B87-3B3B-4FD6-7991-EF197028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D9D29F16-1AC1-5F78-3C92-9D6C4A3874A5}"/>
              </a:ext>
            </a:extLst>
          </p:cNvPr>
          <p:cNvSpPr/>
          <p:nvPr/>
        </p:nvSpPr>
        <p:spPr>
          <a:xfrm>
            <a:off x="400047" y="703290"/>
            <a:ext cx="8172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A534C8C-A487-3352-5674-D61D7D7D324B}"/>
              </a:ext>
            </a:extLst>
          </p:cNvPr>
          <p:cNvSpPr txBox="1"/>
          <p:nvPr/>
        </p:nvSpPr>
        <p:spPr>
          <a:xfrm>
            <a:off x="532474" y="438406"/>
            <a:ext cx="49462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Evaluacija učinkovitosti</a:t>
            </a:r>
            <a:endParaRPr kumimoji="0" lang="pl-PL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2252CDE5-C4D0-EFD4-6AB8-8CF02C047440}"/>
              </a:ext>
            </a:extLst>
          </p:cNvPr>
          <p:cNvSpPr txBox="1"/>
          <p:nvPr/>
        </p:nvSpPr>
        <p:spPr>
          <a:xfrm>
            <a:off x="532474" y="1012187"/>
            <a:ext cx="3874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(</a:t>
            </a:r>
            <a:r>
              <a:rPr lang="hr-HR" dirty="0" err="1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Attack</a:t>
            </a:r>
            <a:r>
              <a:rPr lang="hr-HR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</a:t>
            </a:r>
            <a:r>
              <a:rPr lang="hr-HR" dirty="0" err="1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Detection</a:t>
            </a:r>
            <a:r>
              <a:rPr lang="hr-HR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</a:t>
            </a:r>
            <a:r>
              <a:rPr lang="hr-HR" dirty="0" err="1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Matrix</a:t>
            </a:r>
            <a:r>
              <a:rPr lang="hr-HR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)</a:t>
            </a:r>
            <a:endParaRPr lang="hr-HR" dirty="0">
              <a:latin typeface="Rockwell Light" panose="02040303020102020203" pitchFamily="18" charset="0"/>
            </a:endParaRPr>
          </a:p>
        </p:txBody>
      </p:sp>
      <p:graphicFrame>
        <p:nvGraphicFramePr>
          <p:cNvPr id="13" name="Tablica 12">
            <a:extLst>
              <a:ext uri="{FF2B5EF4-FFF2-40B4-BE49-F238E27FC236}">
                <a16:creationId xmlns:a16="http://schemas.microsoft.com/office/drawing/2014/main" id="{7757399F-2D4A-E9D9-93AE-EBD113498C6F}"/>
              </a:ext>
            </a:extLst>
          </p:cNvPr>
          <p:cNvGraphicFramePr>
            <a:graphicFrameLocks noGrp="1"/>
          </p:cNvGraphicFramePr>
          <p:nvPr/>
        </p:nvGraphicFramePr>
        <p:xfrm>
          <a:off x="224073" y="1521783"/>
          <a:ext cx="8695855" cy="270242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49506">
                  <a:extLst>
                    <a:ext uri="{9D8B030D-6E8A-4147-A177-3AD203B41FA5}">
                      <a16:colId xmlns:a16="http://schemas.microsoft.com/office/drawing/2014/main" val="3892029436"/>
                    </a:ext>
                  </a:extLst>
                </a:gridCol>
                <a:gridCol w="938223">
                  <a:extLst>
                    <a:ext uri="{9D8B030D-6E8A-4147-A177-3AD203B41FA5}">
                      <a16:colId xmlns:a16="http://schemas.microsoft.com/office/drawing/2014/main" val="723742867"/>
                    </a:ext>
                  </a:extLst>
                </a:gridCol>
                <a:gridCol w="1355271">
                  <a:extLst>
                    <a:ext uri="{9D8B030D-6E8A-4147-A177-3AD203B41FA5}">
                      <a16:colId xmlns:a16="http://schemas.microsoft.com/office/drawing/2014/main" val="4144235421"/>
                    </a:ext>
                  </a:extLst>
                </a:gridCol>
                <a:gridCol w="987879">
                  <a:extLst>
                    <a:ext uri="{9D8B030D-6E8A-4147-A177-3AD203B41FA5}">
                      <a16:colId xmlns:a16="http://schemas.microsoft.com/office/drawing/2014/main" val="2186634473"/>
                    </a:ext>
                  </a:extLst>
                </a:gridCol>
                <a:gridCol w="1110342">
                  <a:extLst>
                    <a:ext uri="{9D8B030D-6E8A-4147-A177-3AD203B41FA5}">
                      <a16:colId xmlns:a16="http://schemas.microsoft.com/office/drawing/2014/main" val="2989283009"/>
                    </a:ext>
                  </a:extLst>
                </a:gridCol>
                <a:gridCol w="1172169">
                  <a:extLst>
                    <a:ext uri="{9D8B030D-6E8A-4147-A177-3AD203B41FA5}">
                      <a16:colId xmlns:a16="http://schemas.microsoft.com/office/drawing/2014/main" val="1700780787"/>
                    </a:ext>
                  </a:extLst>
                </a:gridCol>
                <a:gridCol w="934217">
                  <a:extLst>
                    <a:ext uri="{9D8B030D-6E8A-4147-A177-3AD203B41FA5}">
                      <a16:colId xmlns:a16="http://schemas.microsoft.com/office/drawing/2014/main" val="79649563"/>
                    </a:ext>
                  </a:extLst>
                </a:gridCol>
                <a:gridCol w="1548248">
                  <a:extLst>
                    <a:ext uri="{9D8B030D-6E8A-4147-A177-3AD203B41FA5}">
                      <a16:colId xmlns:a16="http://schemas.microsoft.com/office/drawing/2014/main" val="2471911067"/>
                    </a:ext>
                  </a:extLst>
                </a:gridCol>
              </a:tblGrid>
              <a:tr h="506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Scenarij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MITRE Tehnika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Opis napada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>
                          <a:effectLst/>
                          <a:latin typeface="Rockwell Light" panose="02040303020102020203" pitchFamily="18" charset="0"/>
                        </a:rPr>
                        <a:t>Korišteni alati</a:t>
                      </a:r>
                      <a:endParaRPr lang="hr-HR" sz="90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>
                          <a:effectLst/>
                          <a:latin typeface="Rockwell Light" panose="02040303020102020203" pitchFamily="18" charset="0"/>
                        </a:rPr>
                        <a:t>Telemetrija / Izvor podataka</a:t>
                      </a:r>
                      <a:endParaRPr lang="hr-HR" sz="90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>
                          <a:effectLst/>
                          <a:latin typeface="Rockwell Light" panose="02040303020102020203" pitchFamily="18" charset="0"/>
                        </a:rPr>
                        <a:t>Strategija detekcije</a:t>
                      </a:r>
                      <a:endParaRPr lang="hr-HR" sz="90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>
                          <a:effectLst/>
                          <a:latin typeface="Rockwell Light" panose="02040303020102020203" pitchFamily="18" charset="0"/>
                        </a:rPr>
                        <a:t>Status detekcije</a:t>
                      </a:r>
                      <a:endParaRPr lang="hr-HR" sz="90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>
                          <a:effectLst/>
                          <a:latin typeface="Rockwell Light" panose="02040303020102020203" pitchFamily="18" charset="0"/>
                        </a:rPr>
                        <a:t>Identificirani nedostaci</a:t>
                      </a:r>
                      <a:endParaRPr lang="hr-HR" sz="90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272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1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T1110.001 - Password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Guessing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Automatizirani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brute-force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napad na SSH servis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Hydra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,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Cowrie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Honeypot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Cowrie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JSON logovi,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Wazuh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SIEM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Prilagođeno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Wazuh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pravilo (ID 106070) - frekvencija prijava, korelacija po IP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highlight>
                            <a:srgbClr val="00FF00"/>
                          </a:highlight>
                          <a:latin typeface="Rockwell Light" panose="02040303020102020203" pitchFamily="18" charset="0"/>
                        </a:rPr>
                        <a:t>USPJEŠNO</a:t>
                      </a:r>
                      <a:endParaRPr lang="hr-HR" sz="900" dirty="0">
                        <a:effectLst/>
                        <a:highlight>
                          <a:srgbClr val="00FF00"/>
                        </a:highlight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Nema značajnih nedostataka, detekcija je precizna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83388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2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T1003.001 - LSASS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Memory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>
                          <a:effectLst/>
                          <a:latin typeface="Rockwell Light" panose="02040303020102020203" pitchFamily="18" charset="0"/>
                        </a:rPr>
                        <a:t>Pokušaj pristupa memoriji LSASS procesa radi krađe vjerodajnica</a:t>
                      </a:r>
                      <a:endParaRPr lang="hr-HR" sz="90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Atomic Red Team,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PowerShell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Sysmon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Event ID 10,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Wazuh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agent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Analiza Event ID 10, praćenje nepoznatih procesa koji </a:t>
                      </a:r>
                      <a:r>
                        <a:rPr lang="hr-HR" sz="900" dirty="0">
                          <a:solidFill>
                            <a:srgbClr val="000000"/>
                          </a:solidFill>
                          <a:effectLst/>
                          <a:latin typeface="Rockwell Light" panose="02040303020102020203" pitchFamily="18" charset="0"/>
                        </a:rPr>
                        <a:t>pristupaju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LSASS-u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highlight>
                            <a:srgbClr val="00FF00"/>
                          </a:highlight>
                          <a:latin typeface="Rockwell Light" panose="02040303020102020203" pitchFamily="18" charset="0"/>
                        </a:rPr>
                        <a:t>USPJEŠNO</a:t>
                      </a:r>
                      <a:endParaRPr lang="hr-HR" sz="900" dirty="0">
                        <a:effectLst/>
                        <a:highlight>
                          <a:srgbClr val="00FF00"/>
                        </a:highlight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Neki pokušaji blokirani od antivirusnog softvera, ali telemetrija omogućava detekciju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66574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3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T1048.003 -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Exfiltration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Over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DNS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Eksfiltracija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datoteke secret.txt preko DNS upita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PowerShell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,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nslookup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,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tcpdump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Suricata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IDS,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tcpdump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Analiza neuobičajenih DNS upita, dugački nazivi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poddomena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, visoka frekvencija upita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>
                          <a:effectLst/>
                          <a:highlight>
                            <a:srgbClr val="FF9966"/>
                          </a:highlight>
                          <a:latin typeface="Rockwell Light" panose="02040303020102020203" pitchFamily="18" charset="0"/>
                        </a:rPr>
                        <a:t>DJELOMIČNO</a:t>
                      </a:r>
                      <a:endParaRPr lang="hr-HR" sz="900" dirty="0">
                        <a:effectLst/>
                        <a:highlight>
                          <a:srgbClr val="FF9966"/>
                        </a:highlight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Wazuh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nije automatski generirao alarm – potrebno integrirati </a:t>
                      </a:r>
                      <a:r>
                        <a:rPr lang="hr-HR" sz="900" dirty="0" err="1">
                          <a:effectLst/>
                          <a:latin typeface="Rockwell Light" panose="02040303020102020203" pitchFamily="18" charset="0"/>
                        </a:rPr>
                        <a:t>Sysmon</a:t>
                      </a:r>
                      <a:r>
                        <a:rPr lang="hr-HR" sz="900" dirty="0">
                          <a:effectLst/>
                          <a:latin typeface="Rockwell Light" panose="02040303020102020203" pitchFamily="18" charset="0"/>
                        </a:rPr>
                        <a:t> DNS Event ID 22 ili razviti dodatna pravila</a:t>
                      </a:r>
                      <a:endParaRPr lang="hr-HR" sz="900" dirty="0">
                        <a:effectLst/>
                        <a:latin typeface="Rockwell Light" panose="02040303020102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346" marR="64346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382903"/>
                  </a:ext>
                </a:extLst>
              </a:tr>
            </a:tbl>
          </a:graphicData>
        </a:graphic>
      </p:graphicFrame>
      <p:sp>
        <p:nvSpPr>
          <p:cNvPr id="17" name="TekstniOkvir 16">
            <a:extLst>
              <a:ext uri="{FF2B5EF4-FFF2-40B4-BE49-F238E27FC236}">
                <a16:creationId xmlns:a16="http://schemas.microsoft.com/office/drawing/2014/main" id="{7275DE7A-CA2D-9325-85C2-C4B5D591762B}"/>
              </a:ext>
            </a:extLst>
          </p:cNvPr>
          <p:cNvSpPr txBox="1"/>
          <p:nvPr/>
        </p:nvSpPr>
        <p:spPr>
          <a:xfrm>
            <a:off x="643014" y="4309405"/>
            <a:ext cx="80529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Tablica 1.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Attack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Detection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Matrix</a:t>
            </a:r>
            <a:endParaRPr lang="hr-HR" sz="1100" i="1" dirty="0"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endParaRPr lang="hr-HR" sz="11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kstniOkvir 17">
            <a:extLst>
              <a:ext uri="{FF2B5EF4-FFF2-40B4-BE49-F238E27FC236}">
                <a16:creationId xmlns:a16="http://schemas.microsoft.com/office/drawing/2014/main" id="{BBC06C68-6DEF-E894-11F3-B37EE2E9D9EF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Analyst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388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6315E7AB-CDB8-5E3D-D011-37AE0FC8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C0C3E52D-8A3A-CAF2-7D09-12C85078A4C0}"/>
              </a:ext>
            </a:extLst>
          </p:cNvPr>
          <p:cNvSpPr/>
          <p:nvPr/>
        </p:nvSpPr>
        <p:spPr>
          <a:xfrm>
            <a:off x="400047" y="703290"/>
            <a:ext cx="414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07A9E6E3-7C7B-B6B0-1F17-09743FEC9922}"/>
              </a:ext>
            </a:extLst>
          </p:cNvPr>
          <p:cNvSpPr txBox="1"/>
          <p:nvPr/>
        </p:nvSpPr>
        <p:spPr>
          <a:xfrm>
            <a:off x="336040" y="426291"/>
            <a:ext cx="41788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Poslovni utjecaj i rizici</a:t>
            </a:r>
            <a:endParaRPr kumimoji="0" lang="pl-PL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A91E9265-A023-1594-2833-1E9D98211B82}"/>
              </a:ext>
            </a:extLst>
          </p:cNvPr>
          <p:cNvSpPr txBox="1"/>
          <p:nvPr/>
        </p:nvSpPr>
        <p:spPr>
          <a:xfrm>
            <a:off x="532474" y="1464785"/>
            <a:ext cx="8343905" cy="3191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SSH kompromitacija: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Rizik neovlaštenog pristupa i daljnje eskalacije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Krađa vjerodajnica: 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Potpuna kompromitacija domene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Neotkrivena DNS </a:t>
            </a:r>
            <a:r>
              <a:rPr lang="hr-HR" sz="2000" b="1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eksfiltracija</a:t>
            </a: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: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b="1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Krađa intelektualnog vlasništva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GDPR i regulatorni rizici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	Dug </a:t>
            </a:r>
            <a:r>
              <a:rPr lang="hr-HR" sz="2000" dirty="0" err="1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dwell</a:t>
            </a:r>
            <a:r>
              <a:rPr lang="hr-HR" sz="2000" dirty="0">
                <a:solidFill>
                  <a:schemeClr val="tx1">
                    <a:lumMod val="75000"/>
                  </a:schemeClr>
                </a:solidFill>
                <a:latin typeface="Rockwell Light" panose="02040303020102020203" pitchFamily="18" charset="0"/>
                <a:cs typeface="Segoe UI" panose="020B0502040204020203" pitchFamily="34" charset="0"/>
              </a:rPr>
              <a:t> time bez vidljivih alarma</a:t>
            </a: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ECB1AFB0-1F3E-3DC4-6FC1-601C0DFDE540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Analyst</a:t>
            </a:r>
            <a:endParaRPr lang="hr-HR" dirty="0">
              <a:latin typeface="Rockwell Light" panose="02040303020102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025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82F61171-5E01-2F32-0C36-5B7C676C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EA00A335-1610-30C7-5726-3ED64A9D284E}"/>
              </a:ext>
            </a:extLst>
          </p:cNvPr>
          <p:cNvSpPr/>
          <p:nvPr/>
        </p:nvSpPr>
        <p:spPr>
          <a:xfrm>
            <a:off x="400047" y="703290"/>
            <a:ext cx="4140000" cy="308897"/>
          </a:xfrm>
          <a:prstGeom prst="roundRect">
            <a:avLst>
              <a:gd name="adj" fmla="val 50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474E7292-CE82-383A-1924-8651CA385CE3}"/>
              </a:ext>
            </a:extLst>
          </p:cNvPr>
          <p:cNvSpPr txBox="1"/>
          <p:nvPr/>
        </p:nvSpPr>
        <p:spPr>
          <a:xfrm>
            <a:off x="336040" y="426291"/>
            <a:ext cx="41788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r>
              <a:rPr lang="hr-HR" sz="3000" dirty="0" err="1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Detection</a:t>
            </a:r>
            <a:r>
              <a:rPr lang="hr-HR" sz="3000" dirty="0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 vs </a:t>
            </a:r>
            <a:r>
              <a:rPr lang="hr-HR" sz="3000" dirty="0" err="1">
                <a:latin typeface="Rockwell Light" panose="020F0502020204030204" pitchFamily="18" charset="0"/>
                <a:ea typeface="Fira Sans"/>
                <a:cs typeface="Segoe UI" panose="020B0502040204020203" pitchFamily="34" charset="0"/>
                <a:sym typeface="Fira Sans"/>
              </a:rPr>
              <a:t>response</a:t>
            </a:r>
            <a:endParaRPr kumimoji="0" lang="pl-PL" sz="3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ckwell Light" panose="020F0502020204030204" pitchFamily="18" charset="0"/>
              <a:ea typeface="Fira Sans"/>
              <a:cs typeface="Segoe UI" panose="020B0502040204020203" pitchFamily="34" charset="0"/>
              <a:sym typeface="Fira Sans"/>
            </a:endParaRP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1C7E6235-27EB-7157-18A2-130114587FD5}"/>
              </a:ext>
            </a:extLst>
          </p:cNvPr>
          <p:cNvSpPr txBox="1"/>
          <p:nvPr/>
        </p:nvSpPr>
        <p:spPr>
          <a:xfrm>
            <a:off x="6131380" y="0"/>
            <a:ext cx="2751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dirty="0" err="1">
                <a:latin typeface="Rockwell Light" panose="02040303020102020203" pitchFamily="18" charset="0"/>
              </a:rPr>
              <a:t>Analyst</a:t>
            </a:r>
            <a:endParaRPr lang="hr-HR" dirty="0">
              <a:latin typeface="Rockwell Light" panose="02040303020102020203" pitchFamily="18" charset="0"/>
            </a:endParaRPr>
          </a:p>
        </p:txBody>
      </p:sp>
      <p:graphicFrame>
        <p:nvGraphicFramePr>
          <p:cNvPr id="2" name="Tablica 1">
            <a:extLst>
              <a:ext uri="{FF2B5EF4-FFF2-40B4-BE49-F238E27FC236}">
                <a16:creationId xmlns:a16="http://schemas.microsoft.com/office/drawing/2014/main" id="{ED9E82F8-242F-68B2-4BF0-99D38F88E3DF}"/>
              </a:ext>
            </a:extLst>
          </p:cNvPr>
          <p:cNvGraphicFramePr>
            <a:graphicFrameLocks noGrp="1"/>
          </p:cNvGraphicFramePr>
          <p:nvPr/>
        </p:nvGraphicFramePr>
        <p:xfrm>
          <a:off x="319059" y="1209419"/>
          <a:ext cx="8505881" cy="3014791"/>
        </p:xfrm>
        <a:graphic>
          <a:graphicData uri="http://schemas.openxmlformats.org/drawingml/2006/table">
            <a:tbl>
              <a:tblPr firstRow="1" bandRow="1">
                <a:tableStyleId>{6FB0C33E-3051-4056-B17E-4E8AE846BB6C}</a:tableStyleId>
              </a:tblPr>
              <a:tblGrid>
                <a:gridCol w="1362131">
                  <a:extLst>
                    <a:ext uri="{9D8B030D-6E8A-4147-A177-3AD203B41FA5}">
                      <a16:colId xmlns:a16="http://schemas.microsoft.com/office/drawing/2014/main" val="1010976592"/>
                    </a:ext>
                  </a:extLst>
                </a:gridCol>
                <a:gridCol w="3535136">
                  <a:extLst>
                    <a:ext uri="{9D8B030D-6E8A-4147-A177-3AD203B41FA5}">
                      <a16:colId xmlns:a16="http://schemas.microsoft.com/office/drawing/2014/main" val="2782014078"/>
                    </a:ext>
                  </a:extLst>
                </a:gridCol>
                <a:gridCol w="3608614">
                  <a:extLst>
                    <a:ext uri="{9D8B030D-6E8A-4147-A177-3AD203B41FA5}">
                      <a16:colId xmlns:a16="http://schemas.microsoft.com/office/drawing/2014/main" val="2373070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hr-HR" sz="1200" dirty="0">
                        <a:latin typeface="Rockwell Light" panose="02040303020102020203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Detection</a:t>
                      </a:r>
                      <a:endParaRPr lang="hr-HR" sz="1200" dirty="0">
                        <a:latin typeface="Rockwell Light" panose="02040303020102020203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Response</a:t>
                      </a:r>
                      <a:endParaRPr lang="hr-HR" sz="1200" dirty="0">
                        <a:latin typeface="Rockwell Light" panose="02040303020102020203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62918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r-HR" sz="1200" b="1" dirty="0">
                          <a:latin typeface="Rockwell Light" panose="02040303020102020203" pitchFamily="18" charset="0"/>
                        </a:rPr>
                        <a:t>SSH Brute-</a:t>
                      </a:r>
                      <a:r>
                        <a:rPr lang="hr-HR" sz="1200" b="1" dirty="0" err="1">
                          <a:latin typeface="Rockwell Light" panose="02040303020102020203" pitchFamily="18" charset="0"/>
                        </a:rPr>
                        <a:t>Force</a:t>
                      </a:r>
                      <a:r>
                        <a:rPr lang="hr-HR" sz="1200" b="1" dirty="0">
                          <a:latin typeface="Rockwell Light" panose="02040303020102020203" pitchFamily="18" charset="0"/>
                        </a:rPr>
                        <a:t> (</a:t>
                      </a:r>
                      <a:r>
                        <a:rPr lang="hr-HR" sz="1200" b="1" dirty="0" err="1">
                          <a:latin typeface="Rockwell Light" panose="02040303020102020203" pitchFamily="18" charset="0"/>
                        </a:rPr>
                        <a:t>Honeypot</a:t>
                      </a:r>
                      <a:r>
                        <a:rPr lang="hr-HR" sz="1200" b="1" dirty="0">
                          <a:latin typeface="Rockwell Light" panose="02040303020102020203" pitchFamily="18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Višestruki pokušaji prijave u kratkom vremenu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Ista IP adresa i ponavljajući uzorak autentifikacije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Korelacija </a:t>
                      </a: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Cowrie</a:t>
                      </a: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 logova u </a:t>
                      </a: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Wazuh</a:t>
                      </a: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 SIEM-u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Automatsko blokiranje izvorišne IP adrese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Rotacija kompromitiranih vjerodajnica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Daljnje praćenje povezanih IP adresa i ASN-a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555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r-HR" sz="1200" b="1" dirty="0" err="1">
                          <a:latin typeface="Rockwell Light" panose="02040303020102020203" pitchFamily="18" charset="0"/>
                        </a:rPr>
                        <a:t>Credential</a:t>
                      </a:r>
                      <a:r>
                        <a:rPr lang="hr-HR" sz="1200" b="1" dirty="0">
                          <a:latin typeface="Rockwell Light" panose="02040303020102020203" pitchFamily="18" charset="0"/>
                        </a:rPr>
                        <a:t> Dumping – LSASS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Neovlašteni procesi s pristupom lsass.exe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Sysmon</a:t>
                      </a: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 telemetrija otkriva </a:t>
                      </a: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anomalno</a:t>
                      </a: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 ponašanje procesa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Trenutna izolacija kompromitiranog </a:t>
                      </a: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endpointa</a:t>
                      </a:r>
                      <a:endParaRPr lang="hr-HR" sz="1200" dirty="0">
                        <a:latin typeface="Rockwell Light" panose="02040303020102020203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Forenzička analiza memorije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Provjera lateralnog kretanja unutar mreže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583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hr-HR" sz="1200" b="1" dirty="0">
                          <a:latin typeface="Rockwell Light" panose="02040303020102020203" pitchFamily="18" charset="0"/>
                        </a:rPr>
                        <a:t>DNS </a:t>
                      </a:r>
                      <a:r>
                        <a:rPr lang="hr-HR" sz="1200" b="1" dirty="0" err="1">
                          <a:latin typeface="Rockwell Light" panose="02040303020102020203" pitchFamily="18" charset="0"/>
                        </a:rPr>
                        <a:t>Exfiltration</a:t>
                      </a:r>
                      <a:endParaRPr lang="hr-HR" sz="1200" b="1" dirty="0">
                        <a:latin typeface="Rockwell Light" panose="02040303020102020203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Neuobičajeno dugi i nestandardni DNS upiti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Anomalije u mrežnom prometu Izostanak automatskog SIEM alarma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Sinkholing</a:t>
                      </a: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 sumnjive domene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Network </a:t>
                      </a:r>
                      <a:r>
                        <a:rPr lang="hr-HR" sz="1200" dirty="0" err="1">
                          <a:latin typeface="Rockwell Light" panose="02040303020102020203" pitchFamily="18" charset="0"/>
                        </a:rPr>
                        <a:t>containment</a:t>
                      </a: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 zahvaćenog sustava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hr-HR" sz="1200" dirty="0">
                          <a:latin typeface="Rockwell Light" panose="02040303020102020203" pitchFamily="18" charset="0"/>
                        </a:rPr>
                        <a:t>Retrospektivna analiza DNS logova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331620"/>
                  </a:ext>
                </a:extLst>
              </a:tr>
            </a:tbl>
          </a:graphicData>
        </a:graphic>
      </p:graphicFrame>
      <p:sp>
        <p:nvSpPr>
          <p:cNvPr id="5" name="TekstniOkvir 4">
            <a:extLst>
              <a:ext uri="{FF2B5EF4-FFF2-40B4-BE49-F238E27FC236}">
                <a16:creationId xmlns:a16="http://schemas.microsoft.com/office/drawing/2014/main" id="{AFD1BB12-0EEC-7947-8384-759BAB2D76B0}"/>
              </a:ext>
            </a:extLst>
          </p:cNvPr>
          <p:cNvSpPr txBox="1"/>
          <p:nvPr/>
        </p:nvSpPr>
        <p:spPr>
          <a:xfrm>
            <a:off x="643014" y="4309405"/>
            <a:ext cx="80529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Tablica 2.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Detection</a:t>
            </a:r>
            <a:r>
              <a:rPr lang="hr-HR" sz="1100" i="1" dirty="0">
                <a:latin typeface="Rockwell Light" panose="02040303020102020203" pitchFamily="18" charset="0"/>
                <a:cs typeface="Segoe UI" panose="020B0502040204020203" pitchFamily="34" charset="0"/>
              </a:rPr>
              <a:t> vs </a:t>
            </a:r>
            <a:r>
              <a:rPr lang="hr-HR" sz="1100" i="1" dirty="0" err="1">
                <a:latin typeface="Rockwell Light" panose="02040303020102020203" pitchFamily="18" charset="0"/>
                <a:cs typeface="Segoe UI" panose="020B0502040204020203" pitchFamily="34" charset="0"/>
              </a:rPr>
              <a:t>response</a:t>
            </a:r>
            <a:endParaRPr lang="hr-HR" sz="1100" i="1" dirty="0">
              <a:latin typeface="Rockwell Light" panose="02040303020102020203" pitchFamily="18" charset="0"/>
              <a:cs typeface="Segoe UI" panose="020B0502040204020203" pitchFamily="34" charset="0"/>
            </a:endParaRPr>
          </a:p>
          <a:p>
            <a:endParaRPr lang="hr-HR" sz="11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6711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64"/>
          <p:cNvSpPr txBox="1">
            <a:spLocks noGrp="1"/>
          </p:cNvSpPr>
          <p:nvPr>
            <p:ph type="title"/>
          </p:nvPr>
        </p:nvSpPr>
        <p:spPr>
          <a:xfrm>
            <a:off x="1388100" y="1724700"/>
            <a:ext cx="6367800" cy="169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5400" dirty="0">
                <a:latin typeface="Rockwell Light" panose="02040303020102020203" pitchFamily="18" charset="0"/>
              </a:rPr>
              <a:t>HVALA NA PAŽNJI !</a:t>
            </a:r>
            <a:endParaRPr sz="5400" dirty="0">
              <a:latin typeface="Rockwell Light" panose="020403030201020202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d Energy Supplier Pitch Deck by Slidesgo">
  <a:themeElements>
    <a:clrScheme name="Prilagođeno 13">
      <a:dk1>
        <a:srgbClr val="474F57"/>
      </a:dk1>
      <a:lt1>
        <a:srgbClr val="FFFFFF"/>
      </a:lt1>
      <a:dk2>
        <a:srgbClr val="0E3465"/>
      </a:dk2>
      <a:lt2>
        <a:srgbClr val="3F4853"/>
      </a:lt2>
      <a:accent1>
        <a:srgbClr val="AFD6F8"/>
      </a:accent1>
      <a:accent2>
        <a:srgbClr val="D9F0FE"/>
      </a:accent2>
      <a:accent3>
        <a:srgbClr val="454318"/>
      </a:accent3>
      <a:accent4>
        <a:srgbClr val="FFFFFF"/>
      </a:accent4>
      <a:accent5>
        <a:srgbClr val="FFFFFF"/>
      </a:accent5>
      <a:accent6>
        <a:srgbClr val="FFFFFF"/>
      </a:accent6>
      <a:hlink>
        <a:srgbClr val="2E3338"/>
      </a:hlink>
      <a:folHlink>
        <a:srgbClr val="1C5E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Wind Energy Supplier Pitch Deck by Slidesgo">
  <a:themeElements>
    <a:clrScheme name="Prilagođeno 13">
      <a:dk1>
        <a:srgbClr val="474F57"/>
      </a:dk1>
      <a:lt1>
        <a:srgbClr val="FFFFFF"/>
      </a:lt1>
      <a:dk2>
        <a:srgbClr val="0E3465"/>
      </a:dk2>
      <a:lt2>
        <a:srgbClr val="3F4853"/>
      </a:lt2>
      <a:accent1>
        <a:srgbClr val="AFD6F8"/>
      </a:accent1>
      <a:accent2>
        <a:srgbClr val="D9F0FE"/>
      </a:accent2>
      <a:accent3>
        <a:srgbClr val="454318"/>
      </a:accent3>
      <a:accent4>
        <a:srgbClr val="FFFFFF"/>
      </a:accent4>
      <a:accent5>
        <a:srgbClr val="FFFFFF"/>
      </a:accent5>
      <a:accent6>
        <a:srgbClr val="FFFFFF"/>
      </a:accent6>
      <a:hlink>
        <a:srgbClr val="2E3338"/>
      </a:hlink>
      <a:folHlink>
        <a:srgbClr val="1C5E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5325</TotalTime>
  <Words>1506</Words>
  <Application>Microsoft Office PowerPoint</Application>
  <PresentationFormat>Prikaz na zaslonu (16:9)</PresentationFormat>
  <Paragraphs>234</Paragraphs>
  <Slides>34</Slides>
  <Notes>34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34</vt:i4>
      </vt:variant>
    </vt:vector>
  </HeadingPairs>
  <TitlesOfParts>
    <vt:vector size="43" baseType="lpstr">
      <vt:lpstr>Barlow SemiBold</vt:lpstr>
      <vt:lpstr>Syne</vt:lpstr>
      <vt:lpstr>Rockwell Light</vt:lpstr>
      <vt:lpstr>Segoe UI</vt:lpstr>
      <vt:lpstr>Commissioner ExtraBold</vt:lpstr>
      <vt:lpstr>Arial</vt:lpstr>
      <vt:lpstr>Commissioner</vt:lpstr>
      <vt:lpstr>Wind Energy Supplier Pitch Deck by Slidesgo</vt:lpstr>
      <vt:lpstr>1_Wind Energy Supplier Pitch Deck by Slidesgo</vt:lpstr>
      <vt:lpstr>Threat  Hunting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HVALA NA PAŽNJI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Nensi Vugrinec</dc:creator>
  <cp:lastModifiedBy>Mirta Vuković</cp:lastModifiedBy>
  <cp:revision>74</cp:revision>
  <dcterms:modified xsi:type="dcterms:W3CDTF">2026-01-20T10:09:22Z</dcterms:modified>
</cp:coreProperties>
</file>